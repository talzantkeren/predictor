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Id1" /><Relationship Type="http://schemas.openxmlformats.org/officeDocument/2006/relationships/extended-properties" Target="/docProps/app.xml" Id="rId2" /><Relationship Type="http://schemas.openxmlformats.org/officeDocument/2006/relationships/officeDocument" Target="/ppt/presentation.xml" Id="rId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2"/>
  </p:sldMasterIdLst>
  <p:notesMasterIdLst>
    <p:notesMasterId xmlns:r="http://schemas.openxmlformats.org/officeDocument/2006/relationships" r:id="rId3"/>
  </p:notesMasterIdLst>
  <p:sldIdLst>
    <p:sldId xmlns:r="http://schemas.openxmlformats.org/officeDocument/2006/relationships" id="256" r:id="rId6"/>
    <p:sldId xmlns:r="http://schemas.openxmlformats.org/officeDocument/2006/relationships" id="257" r:id="rId7"/>
    <p:sldId xmlns:r="http://schemas.openxmlformats.org/officeDocument/2006/relationships" id="258" r:id="rId8"/>
    <p:sldId xmlns:r="http://schemas.openxmlformats.org/officeDocument/2006/relationships" id="259" r:id="rId9"/>
    <p:sldId xmlns:r="http://schemas.openxmlformats.org/officeDocument/2006/relationships" id="260" r:id="rId10"/>
    <p:sldId xmlns:r="http://schemas.openxmlformats.org/officeDocument/2006/relationships" id="261" r:id="rId11"/>
    <p:sldId xmlns:r="http://schemas.openxmlformats.org/officeDocument/2006/relationships" id="262" r:id="rId12"/>
    <p:sldId xmlns:r="http://schemas.openxmlformats.org/officeDocument/2006/relationships" id="263" r:id="rId13"/>
    <p:sldId xmlns:r="http://schemas.openxmlformats.org/officeDocument/2006/relationships" id="264" r:id="rId14"/>
    <p:sldId xmlns:r="http://schemas.openxmlformats.org/officeDocument/2006/relationships" id="265" r:id="rId15"/>
    <p:sldId xmlns:r="http://schemas.openxmlformats.org/officeDocument/2006/relationships" id="266" r:id="rId16"/>
    <p:sldId xmlns:r="http://schemas.openxmlformats.org/officeDocument/2006/relationships" id="267" r:id="rId17"/>
    <p:sldId xmlns:r="http://schemas.openxmlformats.org/officeDocument/2006/relationships" id="268" r:id="rId1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Id1" /><Relationship Type="http://schemas.openxmlformats.org/officeDocument/2006/relationships/slideMaster" Target="/ppt/slideMasters/slideMaster1.xml" Id="rId2" /><Relationship Type="http://schemas.openxmlformats.org/officeDocument/2006/relationships/notesMaster" Target="/ppt/notesMasters/notesMaster1.xml" Id="rId3" /><Relationship Type="http://schemas.openxmlformats.org/officeDocument/2006/relationships/presProps" Target="/ppt/presProps.xml" Id="rId4" /><Relationship Type="http://schemas.openxmlformats.org/officeDocument/2006/relationships/tableStyles" Target="/ppt/tableStyles.xml" Id="rId5" /><Relationship Type="http://schemas.openxmlformats.org/officeDocument/2006/relationships/slide" Target="/ppt/slides/slide1.xml" Id="rId6" /><Relationship Type="http://schemas.openxmlformats.org/officeDocument/2006/relationships/slide" Target="/ppt/slides/slide2.xml" Id="rId7" /><Relationship Type="http://schemas.openxmlformats.org/officeDocument/2006/relationships/slide" Target="/ppt/slides/slide3.xml" Id="rId8" /><Relationship Type="http://schemas.openxmlformats.org/officeDocument/2006/relationships/slide" Target="/ppt/slides/slide4.xml" Id="rId9" /><Relationship Type="http://schemas.openxmlformats.org/officeDocument/2006/relationships/slide" Target="/ppt/slides/slide5.xml" Id="rId10" /><Relationship Type="http://schemas.openxmlformats.org/officeDocument/2006/relationships/slide" Target="/ppt/slides/slide6.xml" Id="rId11" /><Relationship Type="http://schemas.openxmlformats.org/officeDocument/2006/relationships/slide" Target="/ppt/slides/slide7.xml" Id="rId12" /><Relationship Type="http://schemas.openxmlformats.org/officeDocument/2006/relationships/slide" Target="/ppt/slides/slide8.xml" Id="rId13" /><Relationship Type="http://schemas.openxmlformats.org/officeDocument/2006/relationships/slide" Target="/ppt/slides/slide9.xml" Id="rId14" /><Relationship Type="http://schemas.openxmlformats.org/officeDocument/2006/relationships/slide" Target="/ppt/slides/slide10.xml" Id="rId15" /><Relationship Type="http://schemas.openxmlformats.org/officeDocument/2006/relationships/slide" Target="/ppt/slides/slide11.xml" Id="rId16" /><Relationship Type="http://schemas.openxmlformats.org/officeDocument/2006/relationships/slide" Target="/ppt/slides/slide12.xml" Id="rId17" /><Relationship Type="http://schemas.openxmlformats.org/officeDocument/2006/relationships/slide" Target="/ppt/slides/slide13.xml" Id="rId1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Id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Id1" /><Relationship Type="http://schemas.openxmlformats.org/officeDocument/2006/relationships/notesMaster" Target="/ppt/notesMasters/notesMaster1.xml" Id="rId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Id1" /><Relationship Type="http://schemas.openxmlformats.org/officeDocument/2006/relationships/notesMaster" Target="/ppt/notesMasters/notesMaster1.xml" Id="rId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Id1" /><Relationship Type="http://schemas.openxmlformats.org/officeDocument/2006/relationships/notesMaster" Target="/ppt/notesMasters/notesMaster1.xml" Id="rId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Id1" /><Relationship Type="http://schemas.openxmlformats.org/officeDocument/2006/relationships/notesMaster" Target="/ppt/notesMasters/notesMaster1.xml" Id="rId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Id1" /><Relationship Type="http://schemas.openxmlformats.org/officeDocument/2006/relationships/notesMaster" Target="/ppt/notesMasters/notesMaster1.xml" Id="rId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Id1" /><Relationship Type="http://schemas.openxmlformats.org/officeDocument/2006/relationships/notesMaster" Target="/ppt/notesMasters/notesMaster1.xml" Id="rI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Id1" /><Relationship Type="http://schemas.openxmlformats.org/officeDocument/2006/relationships/notesMaster" Target="/ppt/notesMasters/notesMaster1.xml" Id="rId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Id1" /><Relationship Type="http://schemas.openxmlformats.org/officeDocument/2006/relationships/notesMaster" Target="/ppt/notesMasters/notesMaster1.xml" Id="rId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Id1" /><Relationship Type="http://schemas.openxmlformats.org/officeDocument/2006/relationships/notesMaster" Target="/ppt/notesMasters/notesMaster1.xml" Id="rId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Id1" /><Relationship Type="http://schemas.openxmlformats.org/officeDocument/2006/relationships/notesMaster" Target="/ppt/notesMasters/notesMaster1.xml" Id="rId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Id1" /><Relationship Type="http://schemas.openxmlformats.org/officeDocument/2006/relationships/notesMaster" Target="/ppt/notesMasters/notesMaster1.xml" Id="rId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Id1" /><Relationship Type="http://schemas.openxmlformats.org/officeDocument/2006/relationships/notesMaster" Target="/ppt/notesMasters/notesMaster1.xml" Id="rId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Id1" /><Relationship Type="http://schemas.openxmlformats.org/officeDocument/2006/relationships/notesMaster" Target="/ppt/notesMasters/notesMaster1.xml" Id="rId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 rtl="1">
              <a:buNone/>
              <a:defRPr lang="he-IL"/>
            </a:pPr>
            <a:r>
              <a:rPr lang="he-IL"/>
              <a:t>נקודה: זו מערכת אמון לליגה פרטית, לא רק מחשבון ניקוד.</a:t>
            </a:r>
            <a:endParaRPr lang="he-IL"/>
          </a:p>
          <a:p xmlns:a="http://schemas.openxmlformats.org/drawingml/2006/main">
            <a:pPr algn="r" rtl="1">
              <a:buNone/>
              <a:defRPr lang="he-IL"/>
            </a:pPr>
            <a:r>
              <a:rPr lang="he-IL"/>
              <a:t>ראיה: מחזור חיים מלא ותוצאה סופית שנשמרת במפורש.</a:t>
            </a:r>
            <a:endParaRPr lang="he-IL"/>
          </a:p>
          <a:p xmlns:a="http://schemas.openxmlformats.org/drawingml/2006/main">
            <a:pPr algn="r">
              <a:buNone/>
            </a:pPr>
            <a:r>
              <a:t>[Sources]</a:t>
            </a:r>
            <a:endParaRPr/>
          </a:p>
          <a:p xmlns:a="http://schemas.openxmlformats.org/drawingml/2006/main">
            <a:pPr algn="r">
              <a:buNone/>
            </a:pPr>
            <a:r>
              <a:t>docs/product.md §§2–3, 6</a:t>
            </a:r>
            <a:endParaRPr/>
          </a:p>
          <a:p xmlns:a="http://schemas.openxmlformats.org/drawingml/2006/main">
            <a:pPr algn="r">
              <a:buNone/>
            </a:pPr>
            <a:r>
              <a:t>README.md</a:t>
            </a:r>
            <a:endParaRPr/>
          </a:p>
          <a:p xmlns:a="http://schemas.openxmlformats.org/drawingml/2006/main">
            <a:pPr algn="r">
              <a:buNone/>
            </a:pPr>
            <a:r>
              <a:t>e2e/lifecycle.spec.ts</a:t>
            </a:r>
            <a:endParaRPr/>
          </a:p>
          <a:p xmlns:a="http://schemas.openxmlformats.org/drawingml/2006/main">
            <a:pPr algn="r"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 rtl="1">
              <a:buNone/>
              <a:defRPr lang="he-IL"/>
            </a:pPr>
            <a:r>
              <a:rPr lang="he-IL"/>
              <a:t>נקודה: הפיצול הידני יוצר מחלוקות שאין להן ראיה אחת מוסכמת.</a:t>
            </a:r>
            <a:endParaRPr lang="he-IL"/>
          </a:p>
          <a:p xmlns:a="http://schemas.openxmlformats.org/drawingml/2006/main">
            <a:pPr algn="r" rtl="1">
              <a:buNone/>
              <a:defRPr lang="he-IL"/>
            </a:pPr>
            <a:r>
              <a:rPr lang="he-IL"/>
              <a:t>ראיה: מוקדי המחלוקת הממשיים הם חברות, נעילה, ניקוד ותיקון תוצאה.</a:t>
            </a:r>
            <a:endParaRPr lang="he-IL"/>
          </a:p>
          <a:p xmlns:a="http://schemas.openxmlformats.org/drawingml/2006/main">
            <a:pPr algn="r">
              <a:buNone/>
            </a:pPr>
            <a:r>
              <a:t>[Sources]</a:t>
            </a:r>
            <a:endParaRPr/>
          </a:p>
          <a:p xmlns:a="http://schemas.openxmlformats.org/drawingml/2006/main">
            <a:pPr algn="r">
              <a:buNone/>
            </a:pPr>
            <a:r>
              <a:t>docs/product.md §§2–4, 13</a:t>
            </a:r>
            <a:endParaRPr/>
          </a:p>
          <a:p xmlns:a="http://schemas.openxmlformats.org/drawingml/2006/main">
            <a:pPr algn="r">
              <a:buNone/>
            </a:pPr>
            <a:r>
              <a:t>README.md — Slices 3–6</a:t>
            </a:r>
            <a:endParaRPr/>
          </a:p>
          <a:p xmlns:a="http://schemas.openxmlformats.org/drawingml/2006/main">
            <a:pPr algn="r"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 rtl="1">
              <a:buNone/>
              <a:defRPr lang="he-IL"/>
            </a:pPr>
            <a:r>
              <a:rPr lang="he-IL"/>
              <a:t>נקודה: תפקיד הוא תחום אחריות, לא קיצור דרך להרשאה רחבה.</a:t>
            </a:r>
            <a:endParaRPr lang="he-IL"/>
          </a:p>
          <a:p xmlns:a="http://schemas.openxmlformats.org/drawingml/2006/main">
            <a:pPr algn="r" rtl="1">
              <a:buNone/>
              <a:defRPr lang="he-IL"/>
            </a:pPr>
            <a:r>
              <a:rPr lang="he-IL"/>
              <a:t>ראיה: רשימת החברים הפעילים אינה חושפת דוא״ל, ותפקיד מערכת אינו חוצה את גבול הליגה.</a:t>
            </a:r>
            <a:endParaRPr lang="he-IL"/>
          </a:p>
          <a:p xmlns:a="http://schemas.openxmlformats.org/drawingml/2006/main">
            <a:pPr algn="r">
              <a:buNone/>
            </a:pPr>
            <a:r>
              <a:t>[Sources]</a:t>
            </a:r>
            <a:endParaRPr/>
          </a:p>
          <a:p xmlns:a="http://schemas.openxmlformats.org/drawingml/2006/main">
            <a:pPr algn="r">
              <a:buNone/>
            </a:pPr>
            <a:r>
              <a:t>docs/product.md §§4, 9.3–9.7, 12</a:t>
            </a:r>
            <a:endParaRPr/>
          </a:p>
          <a:p xmlns:a="http://schemas.openxmlformats.org/drawingml/2006/main">
            <a:pPr algn="r">
              <a:buNone/>
            </a:pPr>
            <a:r>
              <a:t>src/features/membership/actions.ts</a:t>
            </a:r>
            <a:endParaRPr/>
          </a:p>
          <a:p xmlns:a="http://schemas.openxmlformats.org/drawingml/2006/main">
            <a:pPr algn="r">
              <a:buNone/>
            </a:pPr>
            <a:r>
              <a:t>src/features/predictions/actions.ts</a:t>
            </a:r>
            <a:endParaRPr/>
          </a:p>
          <a:p xmlns:a="http://schemas.openxmlformats.org/drawingml/2006/main">
            <a:pPr algn="r">
              <a:buNone/>
            </a:pPr>
            <a:r>
              <a:t>e2e/join-and-proofs.spec.ts</a:t>
            </a:r>
            <a:endParaRPr/>
          </a:p>
          <a:p xmlns:a="http://schemas.openxmlformats.org/drawingml/2006/main">
            <a:pPr algn="r">
              <a:buNone/>
            </a:pPr>
            <a:r>
              <a:t>e2e/leagues.spec.ts</a:t>
            </a:r>
            <a:endParaRPr/>
          </a:p>
          <a:p xmlns:a="http://schemas.openxmlformats.org/drawingml/2006/main">
            <a:pPr algn="r"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 rtl="1">
              <a:buNone/>
              <a:defRPr lang="he-IL"/>
            </a:pPr>
            <a:r>
              <a:rPr lang="he-IL"/>
              <a:t>נקודה: אותו סיפור משתמש ממשיך ממצב פתוח עד מצב סופי.</a:t>
            </a:r>
            <a:endParaRPr lang="he-IL"/>
          </a:p>
          <a:p xmlns:a="http://schemas.openxmlformats.org/drawingml/2006/main">
            <a:pPr algn="r" rtl="1">
              <a:buNone/>
              <a:defRPr lang="he-IL"/>
            </a:pPr>
            <a:r>
              <a:rPr lang="he-IL"/>
              <a:t>‫</a:t>
            </a:r>
            <a:r>
              <a:rPr lang="he-IL"/>
              <a:t xml:space="preserve">ראיה: חמש תמונות הגיבוי נלכדות מאותו תרחיש </a:t>
            </a:r>
            <a:r>
              <a:rPr lang="en-US"/>
              <a:t xml:space="preserve">Playwright </a:t>
            </a:r>
            <a:r>
              <a:rPr lang="he-IL"/>
              <a:t>מקומי; שלוש מהן מוצגות כאן כמפת הזרימה.</a:t>
            </a:r>
            <a:r>
              <a:rPr lang="he-IL"/>
              <a:t>‬</a:t>
            </a:r>
            <a:endParaRPr lang="he-IL"/>
          </a:p>
          <a:p xmlns:a="http://schemas.openxmlformats.org/drawingml/2006/main">
            <a:pPr algn="r">
              <a:buNone/>
            </a:pPr>
            <a:r>
              <a:t>[Sources]</a:t>
            </a:r>
            <a:endParaRPr/>
          </a:p>
          <a:p xmlns:a="http://schemas.openxmlformats.org/drawingml/2006/main">
            <a:pPr algn="r">
              <a:buNone/>
            </a:pPr>
            <a:r>
              <a:t>docs/product.md — S9-PDEC-001–005</a:t>
            </a:r>
            <a:endParaRPr/>
          </a:p>
          <a:p xmlns:a="http://schemas.openxmlformats.org/drawingml/2006/main">
            <a:pPr algn="r">
              <a:buNone/>
            </a:pPr>
            <a:r>
              <a:t>README.md — Slice 9</a:t>
            </a:r>
            <a:endParaRPr/>
          </a:p>
          <a:p xmlns:a="http://schemas.openxmlformats.org/drawingml/2006/main">
            <a:pPr algn="r">
              <a:buNone/>
            </a:pPr>
            <a:r>
              <a:t>e2e/lifecycle.spec.ts</a:t>
            </a:r>
            <a:endParaRPr/>
          </a:p>
          <a:p xmlns:a="http://schemas.openxmlformats.org/drawingml/2006/main">
            <a:pPr algn="r">
              <a:buNone/>
            </a:pPr>
            <a:r>
              <a:t>presentation/fallback/01-open-league.png</a:t>
            </a:r>
            <a:endParaRPr/>
          </a:p>
          <a:p xmlns:a="http://schemas.openxmlformats.org/drawingml/2006/main">
            <a:pPr algn="r">
              <a:buNone/>
            </a:pPr>
            <a:r>
              <a:t>presentation/fallback/03-active-current-report.png</a:t>
            </a:r>
            <a:endParaRPr/>
          </a:p>
          <a:p xmlns:a="http://schemas.openxmlformats.org/drawingml/2006/main">
            <a:pPr algn="r">
              <a:buNone/>
            </a:pPr>
            <a:r>
              <a:t>presentation/fallback/04-completed-final-frozen.png</a:t>
            </a:r>
            <a:endParaRPr/>
          </a:p>
          <a:p xmlns:a="http://schemas.openxmlformats.org/drawingml/2006/main">
            <a:pPr algn="r"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 rtl="1">
              <a:buNone/>
              <a:defRPr lang="he-IL"/>
            </a:pPr>
            <a:r>
              <a:rPr lang="he-IL"/>
              <a:t>‫</a:t>
            </a:r>
            <a:r>
              <a:rPr lang="he-IL"/>
              <a:t xml:space="preserve">נקודה: אין </a:t>
            </a:r>
            <a:r>
              <a:rPr lang="en-US"/>
              <a:t xml:space="preserve">backend </a:t>
            </a:r>
            <a:r>
              <a:rPr lang="he-IL"/>
              <a:t>נוסף ואין שכפול של כללים בין היישום למסד.</a:t>
            </a:r>
            <a:r>
              <a:rPr lang="he-IL"/>
              <a:t>‬</a:t>
            </a:r>
            <a:endParaRPr lang="he-IL"/>
          </a:p>
          <a:p xmlns:a="http://schemas.openxmlformats.org/drawingml/2006/main">
            <a:pPr algn="r" rtl="1">
              <a:buNone/>
              <a:defRPr lang="he-IL"/>
            </a:pPr>
            <a:r>
              <a:rPr lang="he-IL"/>
              <a:t>‫</a:t>
            </a:r>
            <a:r>
              <a:rPr lang="he-IL"/>
              <a:t xml:space="preserve">ראיה: </a:t>
            </a:r>
            <a:r>
              <a:rPr lang="en-US"/>
              <a:t xml:space="preserve">Browser, Next.js, </a:t>
            </a:r>
            <a:r>
              <a:rPr lang="he-IL"/>
              <a:t>שירותי התכונה ו־</a:t>
            </a:r>
            <a:r>
              <a:rPr lang="en-US"/>
              <a:t xml:space="preserve">PostgreSQL </a:t>
            </a:r>
            <a:r>
              <a:rPr lang="he-IL"/>
              <a:t>מקבלים אחריות מפורשת ונפרדת.</a:t>
            </a:r>
            <a:r>
              <a:rPr lang="he-IL"/>
              <a:t>‬</a:t>
            </a:r>
            <a:endParaRPr lang="he-IL"/>
          </a:p>
          <a:p xmlns:a="http://schemas.openxmlformats.org/drawingml/2006/main">
            <a:pPr algn="r">
              <a:buNone/>
            </a:pPr>
            <a:r>
              <a:t>[Sources]</a:t>
            </a:r>
            <a:endParaRPr/>
          </a:p>
          <a:p xmlns:a="http://schemas.openxmlformats.org/drawingml/2006/main">
            <a:pPr algn="r">
              <a:buNone/>
            </a:pPr>
            <a:r>
              <a:t>docs/architecture.md §§2–6</a:t>
            </a:r>
            <a:endParaRPr/>
          </a:p>
          <a:p xmlns:a="http://schemas.openxmlformats.org/drawingml/2006/main">
            <a:pPr algn="r">
              <a:buNone/>
            </a:pPr>
            <a:r>
              <a:t>docs/technical-plan.md §§3, 7, 9–10</a:t>
            </a:r>
            <a:endParaRPr/>
          </a:p>
          <a:p xmlns:a="http://schemas.openxmlformats.org/drawingml/2006/main">
            <a:pPr algn="r">
              <a:buNone/>
            </a:pPr>
            <a:r>
              <a:t>src/proxy.ts</a:t>
            </a:r>
            <a:endParaRPr/>
          </a:p>
          <a:p xmlns:a="http://schemas.openxmlformats.org/drawingml/2006/main">
            <a:pPr algn="r">
              <a:buNone/>
            </a:pPr>
            <a:r>
              <a:t>src/app/api/cron/sync/route.ts</a:t>
            </a:r>
            <a:endParaRPr/>
          </a:p>
          <a:p xmlns:a="http://schemas.openxmlformats.org/drawingml/2006/main">
            <a:pPr algn="r">
              <a:buNone/>
            </a:pPr>
            <a:r>
              <a:t>src/app/api/join-requests/[requestId]/proofs/route.ts</a:t>
            </a:r>
            <a:endParaRPr/>
          </a:p>
          <a:p xmlns:a="http://schemas.openxmlformats.org/drawingml/2006/main">
            <a:pPr algn="r"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 rtl="1">
              <a:buNone/>
              <a:defRPr lang="he-IL"/>
            </a:pPr>
            <a:r>
              <a:rPr lang="he-IL"/>
              <a:t>נקודה: הפרדת הישויות שומרת היסטוריה ומונעת דריסה של המצב הסופי.</a:t>
            </a:r>
            <a:endParaRPr lang="he-IL"/>
          </a:p>
          <a:p xmlns:a="http://schemas.openxmlformats.org/drawingml/2006/main">
            <a:pPr algn="r" rtl="1">
              <a:buNone/>
              <a:defRPr lang="he-IL"/>
            </a:pPr>
            <a:r>
              <a:rPr lang="he-IL"/>
              <a:t>ראיה: התרשים משתמש בשמות הטבלאות האמיתיים מן הסכמות והמיגרציות.</a:t>
            </a:r>
            <a:endParaRPr lang="he-IL"/>
          </a:p>
          <a:p xmlns:a="http://schemas.openxmlformats.org/drawingml/2006/main">
            <a:pPr algn="r">
              <a:buNone/>
            </a:pPr>
            <a:r>
              <a:t>[Sources]</a:t>
            </a:r>
            <a:endParaRPr/>
          </a:p>
          <a:p xmlns:a="http://schemas.openxmlformats.org/drawingml/2006/main">
            <a:pPr algn="r">
              <a:buNone/>
            </a:pPr>
            <a:r>
              <a:t>docs/architecture.md §8</a:t>
            </a:r>
            <a:endParaRPr/>
          </a:p>
          <a:p xmlns:a="http://schemas.openxmlformats.org/drawingml/2006/main">
            <a:pPr algn="r">
              <a:buNone/>
            </a:pPr>
            <a:r>
              <a:t>docs/technical-plan.md §§6.2–6.7</a:t>
            </a:r>
            <a:endParaRPr/>
          </a:p>
          <a:p xmlns:a="http://schemas.openxmlformats.org/drawingml/2006/main">
            <a:pPr algn="r">
              <a:buNone/>
            </a:pPr>
            <a:r>
              <a:t>supabase/migrations/20260814231000_slice3_membership_and_proofs.sql</a:t>
            </a:r>
            <a:endParaRPr/>
          </a:p>
          <a:p xmlns:a="http://schemas.openxmlformats.org/drawingml/2006/main">
            <a:pPr algn="r">
              <a:buNone/>
            </a:pPr>
            <a:r>
              <a:t>supabase/migrations/20260815200500_slice5_predictions.sql</a:t>
            </a:r>
            <a:endParaRPr/>
          </a:p>
          <a:p xmlns:a="http://schemas.openxmlformats.org/drawingml/2006/main">
            <a:pPr algn="r">
              <a:buNone/>
            </a:pPr>
            <a:r>
              <a:t>supabase/migrations/20260827090000_slice9_lifecycle_schema.sql</a:t>
            </a:r>
            <a:endParaRPr/>
          </a:p>
          <a:p xmlns:a="http://schemas.openxmlformats.org/drawingml/2006/main">
            <a:pPr algn="r">
              <a:buNone/>
            </a:pPr>
            <a:r>
              <a:t>src/types/database.generated.ts</a:t>
            </a:r>
            <a:endParaRPr/>
          </a:p>
          <a:p xmlns:a="http://schemas.openxmlformats.org/drawingml/2006/main">
            <a:pPr algn="r"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 rtl="1">
              <a:buNone/>
              <a:defRPr lang="he-IL"/>
            </a:pPr>
            <a:r>
              <a:rPr lang="he-IL"/>
              <a:t>‫</a:t>
            </a:r>
            <a:r>
              <a:rPr lang="he-IL"/>
              <a:t xml:space="preserve">נקודה: זהות, הרשאת משאב, </a:t>
            </a:r>
            <a:r>
              <a:rPr lang="en-US"/>
              <a:t xml:space="preserve">RLS </a:t>
            </a:r>
            <a:r>
              <a:rPr lang="he-IL"/>
              <a:t>וגבול הקובץ הם בקרות נפרדות.</a:t>
            </a:r>
            <a:r>
              <a:rPr lang="he-IL"/>
              <a:t>‬</a:t>
            </a:r>
            <a:endParaRPr lang="he-IL"/>
          </a:p>
          <a:p xmlns:a="http://schemas.openxmlformats.org/drawingml/2006/main">
            <a:pPr algn="r" rtl="1">
              <a:buNone/>
              <a:defRPr lang="he-IL"/>
            </a:pPr>
            <a:r>
              <a:rPr lang="he-IL"/>
              <a:t>ראיה: מסלול האסמכתה המלא והבדיקות השליליות של משתמש זר מוכיחים את ההפרדה.</a:t>
            </a:r>
            <a:endParaRPr lang="he-IL"/>
          </a:p>
          <a:p xmlns:a="http://schemas.openxmlformats.org/drawingml/2006/main">
            <a:pPr algn="r">
              <a:buNone/>
            </a:pPr>
            <a:r>
              <a:t>[Sources]</a:t>
            </a:r>
            <a:endParaRPr/>
          </a:p>
          <a:p xmlns:a="http://schemas.openxmlformats.org/drawingml/2006/main">
            <a:pPr algn="r">
              <a:buNone/>
            </a:pPr>
            <a:r>
              <a:t>docs/security.md</a:t>
            </a:r>
            <a:endParaRPr/>
          </a:p>
          <a:p xmlns:a="http://schemas.openxmlformats.org/drawingml/2006/main">
            <a:pPr algn="r">
              <a:buNone/>
            </a:pPr>
            <a:r>
              <a:t>docs/architecture.md §§6–7, 12–13</a:t>
            </a:r>
            <a:endParaRPr/>
          </a:p>
          <a:p xmlns:a="http://schemas.openxmlformats.org/drawingml/2006/main">
            <a:pPr algn="r">
              <a:buNone/>
            </a:pPr>
            <a:r>
              <a:t>src/lib/supabase/admin.ts</a:t>
            </a:r>
            <a:endParaRPr/>
          </a:p>
          <a:p xmlns:a="http://schemas.openxmlformats.org/drawingml/2006/main">
            <a:pPr algn="r">
              <a:buNone/>
            </a:pPr>
            <a:r>
              <a:t>src/features/files/private-proof-storage.ts</a:t>
            </a:r>
            <a:endParaRPr/>
          </a:p>
          <a:p xmlns:a="http://schemas.openxmlformats.org/drawingml/2006/main">
            <a:pPr algn="r">
              <a:buNone/>
            </a:pPr>
            <a:r>
              <a:t>src/app/api/payment-proofs/[proofId]/route.ts</a:t>
            </a:r>
            <a:endParaRPr/>
          </a:p>
          <a:p xmlns:a="http://schemas.openxmlformats.org/drawingml/2006/main">
            <a:pPr algn="r">
              <a:buNone/>
            </a:pPr>
            <a:r>
              <a:t>supabase/tests/proofs.test.sql</a:t>
            </a:r>
            <a:endParaRPr/>
          </a:p>
          <a:p xmlns:a="http://schemas.openxmlformats.org/drawingml/2006/main">
            <a:pPr algn="r">
              <a:buNone/>
            </a:pPr>
            <a:r>
              <a:t>e2e/join-and-proofs.spec.ts</a:t>
            </a:r>
            <a:endParaRPr/>
          </a:p>
          <a:p xmlns:a="http://schemas.openxmlformats.org/drawingml/2006/main">
            <a:pPr algn="r"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 rtl="1">
              <a:buNone/>
              <a:defRPr lang="he-IL"/>
            </a:pPr>
            <a:r>
              <a:rPr lang="he-IL"/>
              <a:t>נקודה: משתמש אינו יכול להאריך לעצמו את חלון הניחוש באמצעות שעון מקומי או בקשה שהתעכבה.</a:t>
            </a:r>
            <a:endParaRPr lang="he-IL"/>
          </a:p>
          <a:p xmlns:a="http://schemas.openxmlformats.org/drawingml/2006/main">
            <a:pPr algn="r" rtl="1">
              <a:buNone/>
              <a:defRPr lang="he-IL"/>
            </a:pPr>
            <a:r>
              <a:rPr lang="he-IL"/>
              <a:t>‫</a:t>
            </a:r>
            <a:r>
              <a:rPr lang="he-IL"/>
              <a:t xml:space="preserve">ראיה: הנעילות נרכשות בסדר הקנוני ורק אחריהן נקרא </a:t>
            </a:r>
            <a:r>
              <a:rPr lang="en-US"/>
              <a:t>clock_timestamp().</a:t>
            </a:r>
            <a:r>
              <a:rPr lang="he-IL"/>
              <a:t>‬</a:t>
            </a:r>
            <a:endParaRPr lang="he-IL"/>
          </a:p>
          <a:p xmlns:a="http://schemas.openxmlformats.org/drawingml/2006/main">
            <a:pPr algn="r">
              <a:buNone/>
            </a:pPr>
            <a:r>
              <a:t>[Sources]</a:t>
            </a:r>
            <a:endParaRPr/>
          </a:p>
          <a:p xmlns:a="http://schemas.openxmlformats.org/drawingml/2006/main">
            <a:pPr algn="r">
              <a:buNone/>
            </a:pPr>
            <a:r>
              <a:t>docs/product.md — PRED-03, PRED-04, §13</a:t>
            </a:r>
            <a:endParaRPr/>
          </a:p>
          <a:p xmlns:a="http://schemas.openxmlformats.org/drawingml/2006/main">
            <a:pPr algn="r" rtl="1">
              <a:buNone/>
              <a:defRPr lang="he-IL"/>
            </a:pPr>
            <a:r>
              <a:rPr lang="he-IL"/>
              <a:t>‫</a:t>
            </a:r>
            <a:r>
              <a:rPr lang="en-US"/>
              <a:t xml:space="preserve">docs/security.md — </a:t>
            </a:r>
            <a:r>
              <a:rPr lang="he-IL"/>
              <a:t xml:space="preserve">סדר נעילות </a:t>
            </a:r>
            <a:r>
              <a:rPr lang="en-US"/>
              <a:t>lifecycle</a:t>
            </a:r>
            <a:r>
              <a:rPr lang="he-IL"/>
              <a:t>‬</a:t>
            </a:r>
            <a:endParaRPr lang="he-IL"/>
          </a:p>
          <a:p xmlns:a="http://schemas.openxmlformats.org/drawingml/2006/main">
            <a:pPr algn="r">
              <a:buNone/>
            </a:pPr>
            <a:r>
              <a:t>supabase/migrations/20260826193000_slice9_database_time_serialization.sql</a:t>
            </a:r>
            <a:endParaRPr/>
          </a:p>
          <a:p xmlns:a="http://schemas.openxmlformats.org/drawingml/2006/main">
            <a:pPr algn="r">
              <a:buNone/>
            </a:pPr>
            <a:r>
              <a:t>supabase/tests/slice9-time-serialization.test.sql</a:t>
            </a:r>
            <a:endParaRPr/>
          </a:p>
          <a:p xmlns:a="http://schemas.openxmlformats.org/drawingml/2006/main">
            <a:pPr algn="r">
              <a:buNone/>
            </a:pPr>
            <a:r>
              <a:t>e2e/prediction-lock.spec.ts</a:t>
            </a:r>
            <a:endParaRPr/>
          </a:p>
          <a:p xmlns:a="http://schemas.openxmlformats.org/drawingml/2006/main">
            <a:pPr algn="r"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 rtl="1">
              <a:buNone/>
              <a:defRPr lang="he-IL"/>
            </a:pPr>
            <a:r>
              <a:rPr lang="he-IL"/>
              <a:t>נקודה: הדירוג הסופי נשאר סופי, אך תיקון מוצדק אפשרי במסלול מפורש ומתועד.</a:t>
            </a:r>
            <a:endParaRPr lang="he-IL"/>
          </a:p>
          <a:p xmlns:a="http://schemas.openxmlformats.org/drawingml/2006/main">
            <a:pPr algn="r" rtl="1">
              <a:buNone/>
              <a:defRPr lang="he-IL"/>
            </a:pPr>
            <a:r>
              <a:rPr lang="he-IL"/>
              <a:t>‫</a:t>
            </a:r>
            <a:r>
              <a:rPr lang="he-IL"/>
              <a:t>ראיה: ה־</a:t>
            </a:r>
            <a:r>
              <a:rPr lang="en-US"/>
              <a:t xml:space="preserve">completion </a:t>
            </a:r>
            <a:r>
              <a:rPr lang="he-IL"/>
              <a:t xml:space="preserve">מקפיא </a:t>
            </a:r>
            <a:r>
              <a:rPr lang="en-US"/>
              <a:t xml:space="preserve">snapshot </a:t>
            </a:r>
            <a:r>
              <a:rPr lang="he-IL"/>
              <a:t xml:space="preserve">וסוגר בקשות באותה </a:t>
            </a:r>
            <a:r>
              <a:rPr lang="en-US"/>
              <a:t xml:space="preserve">transaction; </a:t>
            </a:r>
            <a:r>
              <a:rPr lang="he-IL"/>
              <a:t xml:space="preserve">התיקון המאוחר אינו חל עד </a:t>
            </a:r>
            <a:r>
              <a:rPr lang="en-US"/>
              <a:t>reconciliation.</a:t>
            </a:r>
            <a:r>
              <a:rPr lang="he-IL"/>
              <a:t>‬</a:t>
            </a:r>
            <a:endParaRPr lang="he-IL"/>
          </a:p>
          <a:p xmlns:a="http://schemas.openxmlformats.org/drawingml/2006/main">
            <a:pPr algn="r">
              <a:buNone/>
            </a:pPr>
            <a:r>
              <a:t>[Sources]</a:t>
            </a:r>
            <a:endParaRPr/>
          </a:p>
          <a:p xmlns:a="http://schemas.openxmlformats.org/drawingml/2006/main">
            <a:pPr algn="r">
              <a:buNone/>
            </a:pPr>
            <a:r>
              <a:t>docs/product.md — S9-PDEC-002–004, LEAGUE-09, MATCH-09, JOIN-14</a:t>
            </a:r>
            <a:endParaRPr/>
          </a:p>
          <a:p xmlns:a="http://schemas.openxmlformats.org/drawingml/2006/main">
            <a:pPr algn="r">
              <a:buNone/>
            </a:pPr>
            <a:r>
              <a:t>docs/security.md — Slice 9 lifecycle</a:t>
            </a:r>
            <a:endParaRPr/>
          </a:p>
          <a:p xmlns:a="http://schemas.openxmlformats.org/drawingml/2006/main">
            <a:pPr algn="r">
              <a:buNone/>
            </a:pPr>
            <a:r>
              <a:t>supabase/migrations/20260827110000_slice9_league_completion.sql</a:t>
            </a:r>
            <a:endParaRPr/>
          </a:p>
          <a:p xmlns:a="http://schemas.openxmlformats.org/drawingml/2006/main">
            <a:pPr algn="r">
              <a:buNone/>
            </a:pPr>
            <a:r>
              <a:t>supabase/migrations/20260827120000_slice9_match_review_reconciliation.sql</a:t>
            </a:r>
            <a:endParaRPr/>
          </a:p>
          <a:p xmlns:a="http://schemas.openxmlformats.org/drawingml/2006/main">
            <a:pPr algn="r">
              <a:buNone/>
            </a:pPr>
            <a:r>
              <a:t>supabase/migrations/20260827140000_slice9_lifecycle_concurrency_hardening.sql</a:t>
            </a:r>
            <a:endParaRPr/>
          </a:p>
          <a:p xmlns:a="http://schemas.openxmlformats.org/drawingml/2006/main">
            <a:pPr algn="r">
              <a:buNone/>
            </a:pPr>
            <a:r>
              <a:t>supabase/tests/slice9-lifecycle-concurrency.test.sql</a:t>
            </a:r>
            <a:endParaRPr/>
          </a:p>
          <a:p xmlns:a="http://schemas.openxmlformats.org/drawingml/2006/main">
            <a:pPr algn="r">
              <a:buNone/>
            </a:pPr>
            <a:r>
              <a:t>e2e/lifecycle.spec.ts</a:t>
            </a:r>
            <a:endParaRPr/>
          </a:p>
          <a:p xmlns:a="http://schemas.openxmlformats.org/drawingml/2006/main">
            <a:pPr algn="r"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 rtl="1">
              <a:buNone/>
              <a:defRPr lang="he-IL"/>
            </a:pPr>
            <a:r>
              <a:rPr lang="he-IL"/>
              <a:t>נקודה: כל סיכון נבדק בשכבה שבה הוא באמת קורה; ירוק קיים לבדו אינו ראיית סגירה.</a:t>
            </a:r>
            <a:endParaRPr lang="he-IL"/>
          </a:p>
          <a:p xmlns:a="http://schemas.openxmlformats.org/drawingml/2006/main">
            <a:pPr algn="r" rtl="1">
              <a:buNone/>
              <a:defRPr lang="he-IL"/>
            </a:pPr>
            <a:r>
              <a:rPr lang="he-IL"/>
              <a:t>‫</a:t>
            </a:r>
            <a:r>
              <a:rPr lang="he-IL"/>
              <a:t xml:space="preserve">ראיה: </a:t>
            </a:r>
            <a:r>
              <a:rPr lang="en-US"/>
              <a:t xml:space="preserve">50 </a:t>
            </a:r>
            <a:r>
              <a:rPr lang="he-IL"/>
              <a:t xml:space="preserve">קובצי </a:t>
            </a:r>
            <a:r>
              <a:rPr lang="en-US"/>
              <a:t xml:space="preserve">Vitest </a:t>
            </a:r>
            <a:r>
              <a:rPr lang="he-IL"/>
              <a:t xml:space="preserve">עם </a:t>
            </a:r>
            <a:r>
              <a:rPr lang="en-US"/>
              <a:t xml:space="preserve">641 </a:t>
            </a:r>
            <a:r>
              <a:rPr lang="he-IL"/>
              <a:t xml:space="preserve">בדיקות, </a:t>
            </a:r>
            <a:r>
              <a:rPr lang="en-US"/>
              <a:t xml:space="preserve">32 </a:t>
            </a:r>
            <a:r>
              <a:rPr lang="he-IL"/>
              <a:t xml:space="preserve">קובצי </a:t>
            </a:r>
            <a:r>
              <a:rPr lang="en-US"/>
              <a:t xml:space="preserve">pgTAP </a:t>
            </a:r>
            <a:r>
              <a:rPr lang="he-IL"/>
              <a:t xml:space="preserve">עם </a:t>
            </a:r>
            <a:r>
              <a:rPr lang="en-US"/>
              <a:t xml:space="preserve">1,502 </a:t>
            </a:r>
            <a:r>
              <a:rPr lang="he-IL"/>
              <a:t>בדיקות ו־</a:t>
            </a:r>
            <a:r>
              <a:rPr lang="en-US"/>
              <a:t xml:space="preserve">38 </a:t>
            </a:r>
            <a:r>
              <a:rPr lang="he-IL"/>
              <a:t xml:space="preserve">בדיקות </a:t>
            </a:r>
            <a:r>
              <a:rPr lang="en-US"/>
              <a:t xml:space="preserve">Playwright </a:t>
            </a:r>
            <a:r>
              <a:rPr lang="he-IL"/>
              <a:t>נצפו על מועמד המסירה.</a:t>
            </a:r>
            <a:r>
              <a:rPr lang="he-IL"/>
              <a:t>‬</a:t>
            </a:r>
            <a:endParaRPr lang="he-IL"/>
          </a:p>
          <a:p xmlns:a="http://schemas.openxmlformats.org/drawingml/2006/main">
            <a:pPr algn="r">
              <a:buNone/>
            </a:pPr>
            <a:r>
              <a:t>[Sources]</a:t>
            </a:r>
            <a:endParaRPr/>
          </a:p>
          <a:p xmlns:a="http://schemas.openxmlformats.org/drawingml/2006/main">
            <a:pPr algn="r">
              <a:buNone/>
            </a:pPr>
            <a:r>
              <a:t>docs/testing.md</a:t>
            </a:r>
            <a:endParaRPr/>
          </a:p>
          <a:p xmlns:a="http://schemas.openxmlformats.org/drawingml/2006/main">
            <a:pPr algn="r">
              <a:buNone/>
            </a:pPr>
            <a:r>
              <a:t>docs/technical-plan.md §14</a:t>
            </a:r>
            <a:endParaRPr/>
          </a:p>
          <a:p xmlns:a="http://schemas.openxmlformats.org/drawingml/2006/main">
            <a:pPr algn="r">
              <a:buNone/>
            </a:pPr>
            <a:r>
              <a:t>package.json — test, test:db, test:e2e, verify</a:t>
            </a:r>
            <a:endParaRPr/>
          </a:p>
          <a:p xmlns:a="http://schemas.openxmlformats.org/drawingml/2006/main">
            <a:pPr algn="r">
              <a:buNone/>
            </a:pPr>
            <a:r>
              <a:t>src/**/*.test.ts</a:t>
            </a:r>
            <a:endParaRPr/>
          </a:p>
          <a:p xmlns:a="http://schemas.openxmlformats.org/drawingml/2006/main">
            <a:pPr algn="r">
              <a:buNone/>
            </a:pPr>
            <a:r>
              <a:t>supabase/tests/*.test.sql</a:t>
            </a:r>
            <a:endParaRPr/>
          </a:p>
          <a:p xmlns:a="http://schemas.openxmlformats.org/drawingml/2006/main">
            <a:pPr algn="r">
              <a:buNone/>
            </a:pPr>
            <a:r>
              <a:t>e2e/*.spec.ts</a:t>
            </a:r>
            <a:endParaRPr/>
          </a:p>
          <a:p xmlns:a="http://schemas.openxmlformats.org/drawingml/2006/main">
            <a:pPr algn="r">
              <a:buNone/>
            </a:pPr>
            <a:r>
              <a:t>docs/evidence/slice-9/w7/S9-REQ-002.md</a:t>
            </a:r>
            <a:endParaRPr/>
          </a:p>
          <a:p xmlns:a="http://schemas.openxmlformats.org/drawingml/2006/main">
            <a:pPr algn="r"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 rtl="1">
              <a:buNone/>
              <a:defRPr lang="he-IL"/>
            </a:pPr>
            <a:r>
              <a:rPr lang="he-IL"/>
              <a:t>נקודה: הארכיטקטורה מספיקה ליעד הקורס משום שהשאילתות תחומות ונמדדות.</a:t>
            </a:r>
            <a:endParaRPr lang="he-IL"/>
          </a:p>
          <a:p xmlns:a="http://schemas.openxmlformats.org/drawingml/2006/main">
            <a:pPr algn="r" rtl="1">
              <a:buNone/>
              <a:defRPr lang="he-IL"/>
            </a:pPr>
            <a:r>
              <a:rPr lang="he-IL"/>
              <a:t>‫</a:t>
            </a:r>
            <a:r>
              <a:rPr lang="he-IL"/>
              <a:t xml:space="preserve">ראיה: ארבע תוכניות </a:t>
            </a:r>
            <a:r>
              <a:rPr lang="en-US"/>
              <a:t xml:space="preserve">EXPLAIN ANALYZE </a:t>
            </a:r>
            <a:r>
              <a:rPr lang="he-IL"/>
              <a:t xml:space="preserve">עברו; בכל פלט נצפה </a:t>
            </a:r>
            <a:r>
              <a:rPr lang="en-US"/>
              <a:t xml:space="preserve">Function Scan </a:t>
            </a:r>
            <a:r>
              <a:rPr lang="he-IL"/>
              <a:t xml:space="preserve">תחום, עם </a:t>
            </a:r>
            <a:r>
              <a:rPr lang="en-US"/>
              <a:t xml:space="preserve">51, 51, 51 </a:t>
            </a:r>
            <a:r>
              <a:rPr lang="he-IL"/>
              <a:t>ו־</a:t>
            </a:r>
            <a:r>
              <a:rPr lang="en-US"/>
              <a:t xml:space="preserve">26 </a:t>
            </a:r>
            <a:r>
              <a:rPr lang="he-IL"/>
              <a:t>שורות.</a:t>
            </a:r>
            <a:r>
              <a:rPr lang="he-IL"/>
              <a:t>‬</a:t>
            </a:r>
            <a:endParaRPr lang="he-IL"/>
          </a:p>
          <a:p xmlns:a="http://schemas.openxmlformats.org/drawingml/2006/main">
            <a:pPr algn="r">
              <a:buNone/>
            </a:pPr>
            <a:r>
              <a:t>[Sources]</a:t>
            </a:r>
            <a:endParaRPr/>
          </a:p>
          <a:p xmlns:a="http://schemas.openxmlformats.org/drawingml/2006/main">
            <a:pPr algn="r">
              <a:buNone/>
            </a:pPr>
            <a:r>
              <a:t>docs/scale.md</a:t>
            </a:r>
            <a:endParaRPr/>
          </a:p>
          <a:p xmlns:a="http://schemas.openxmlformats.org/drawingml/2006/main">
            <a:pPr algn="r">
              <a:buNone/>
            </a:pPr>
            <a:r>
              <a:t>scripts/check-scale-plans.ts</a:t>
            </a:r>
            <a:endParaRPr/>
          </a:p>
          <a:p xmlns:a="http://schemas.openxmlformats.org/drawingml/2006/main">
            <a:pPr algn="r">
              <a:buNone/>
            </a:pPr>
            <a:r>
              <a:t>docs/evidence/slice-9/w8/S9-REQ-005.md</a:t>
            </a:r>
            <a:endParaRPr/>
          </a:p>
          <a:p xmlns:a="http://schemas.openxmlformats.org/drawingml/2006/main">
            <a:pPr algn="r">
              <a:buNone/>
            </a:pPr>
            <a:r>
              <a:t>supabase/migrations/20260826310000_slice9_keyset_pagination.sql</a:t>
            </a:r>
            <a:endParaRPr/>
          </a:p>
          <a:p xmlns:a="http://schemas.openxmlformats.org/drawingml/2006/main">
            <a:pPr algn="r">
              <a:buNone/>
            </a:pPr>
            <a:r>
              <a:t>supabase/migrations/20260827130000_slice9_active_members.sql</a:t>
            </a:r>
            <a:endParaRPr/>
          </a:p>
          <a:p xmlns:a="http://schemas.openxmlformats.org/drawingml/2006/main">
            <a:pPr algn="r"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 rtl="1">
              <a:buNone/>
              <a:defRPr lang="he-IL"/>
            </a:pPr>
            <a:r>
              <a:rPr lang="he-IL"/>
              <a:t>נקודה: המוצר אומר במפורש מה הוא אינו עושה ומה עדיין תלוי בתשתית חיצונית.</a:t>
            </a:r>
            <a:endParaRPr lang="he-IL"/>
          </a:p>
          <a:p xmlns:a="http://schemas.openxmlformats.org/drawingml/2006/main">
            <a:pPr algn="r" rtl="1">
              <a:buNone/>
              <a:defRPr lang="he-IL"/>
            </a:pPr>
            <a:r>
              <a:rPr lang="he-IL"/>
              <a:t>‫</a:t>
            </a:r>
            <a:r>
              <a:rPr lang="he-IL"/>
              <a:t xml:space="preserve">ראיה: מטריצת הסביבות, הנתיב הידני וסריקות </a:t>
            </a:r>
            <a:r>
              <a:rPr lang="en-US"/>
              <a:t xml:space="preserve">bundle/log </a:t>
            </a:r>
            <a:r>
              <a:rPr lang="he-IL"/>
              <a:t>תומכים בגבולות הגרסה.</a:t>
            </a:r>
            <a:r>
              <a:rPr lang="he-IL"/>
              <a:t>‬</a:t>
            </a:r>
            <a:endParaRPr lang="he-IL"/>
          </a:p>
          <a:p xmlns:a="http://schemas.openxmlformats.org/drawingml/2006/main">
            <a:pPr algn="r">
              <a:buNone/>
            </a:pPr>
            <a:r>
              <a:t>[Sources]</a:t>
            </a:r>
            <a:endParaRPr/>
          </a:p>
          <a:p xmlns:a="http://schemas.openxmlformats.org/drawingml/2006/main">
            <a:pPr algn="r">
              <a:buNone/>
            </a:pPr>
            <a:r>
              <a:t>docs/product.md §§6, 8.2, 15</a:t>
            </a:r>
            <a:endParaRPr/>
          </a:p>
          <a:p xmlns:a="http://schemas.openxmlformats.org/drawingml/2006/main">
            <a:pPr algn="r">
              <a:buNone/>
            </a:pPr>
            <a:r>
              <a:t>docs/architecture.md §§2, 14, 19–21</a:t>
            </a:r>
            <a:endParaRPr/>
          </a:p>
          <a:p xmlns:a="http://schemas.openxmlformats.org/drawingml/2006/main">
            <a:pPr algn="r" rtl="1">
              <a:buNone/>
              <a:defRPr lang="he-IL"/>
            </a:pPr>
            <a:r>
              <a:rPr lang="he-IL"/>
              <a:t>‫</a:t>
            </a:r>
            <a:r>
              <a:rPr lang="en-US"/>
              <a:t xml:space="preserve">docs/security.md — </a:t>
            </a:r>
            <a:r>
              <a:rPr lang="he-IL"/>
              <a:t>סיכונים שיוריים</a:t>
            </a:r>
            <a:r>
              <a:rPr lang="he-IL"/>
              <a:t>‬</a:t>
            </a:r>
            <a:endParaRPr lang="he-IL"/>
          </a:p>
          <a:p xmlns:a="http://schemas.openxmlformats.org/drawingml/2006/main">
            <a:pPr algn="r" rtl="1">
              <a:buNone/>
              <a:defRPr lang="he-IL"/>
            </a:pPr>
            <a:r>
              <a:rPr lang="he-IL"/>
              <a:t>‫</a:t>
            </a:r>
            <a:r>
              <a:rPr lang="en-US"/>
              <a:t xml:space="preserve">docs/scale.md — </a:t>
            </a:r>
            <a:r>
              <a:rPr lang="he-IL"/>
              <a:t>גבולות ורמזי הרחבה</a:t>
            </a:r>
            <a:r>
              <a:rPr lang="he-IL"/>
              <a:t>‬</a:t>
            </a:r>
            <a:endParaRPr lang="he-IL"/>
          </a:p>
          <a:p xmlns:a="http://schemas.openxmlformats.org/drawingml/2006/main">
            <a:pPr algn="r">
              <a:buNone/>
            </a:pPr>
            <a:r>
              <a:t>README.md — Sports Sync</a:t>
            </a:r>
            <a:endParaRPr/>
          </a:p>
          <a:p xmlns:a="http://schemas.openxmlformats.org/drawingml/2006/main">
            <a:pPr algn="r">
              <a:buNone/>
            </a:pPr>
            <a:r>
              <a:t>.env.example</a:t>
            </a:r>
            <a:endParaRPr/>
          </a:p>
          <a:p xmlns:a="http://schemas.openxmlformats.org/drawingml/2006/main">
            <a:pPr algn="r">
              <a:buNone/>
            </a:pPr>
            <a:r>
              <a:t>scripts/check-client-secret-absence.ts</a:t>
            </a:r>
            <a:endParaRPr/>
          </a:p>
          <a:p xmlns:a="http://schemas.openxmlformats.org/drawingml/2006/main">
            <a:pPr algn="r">
              <a:buNone/>
            </a:pPr>
            <a:r>
              <a:t>scripts/check-sports-secret-boundaries.mjs</a:t>
            </a:r>
            <a:endParaRPr/>
          </a:p>
          <a:p xmlns:a="http://schemas.openxmlformats.org/drawingml/2006/main">
            <a:pPr algn="r"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 rtl="1">
              <a:buNone/>
              <a:defRPr lang="he-IL"/>
            </a:pPr>
            <a:r>
              <a:rPr lang="he-IL"/>
              <a:t>נקודה: העתיד מופרד בבירור ממה שנמסר ונבדק כעת.</a:t>
            </a:r>
            <a:endParaRPr lang="he-IL"/>
          </a:p>
          <a:p xmlns:a="http://schemas.openxmlformats.org/drawingml/2006/main">
            <a:pPr algn="r" rtl="1">
              <a:buNone/>
              <a:defRPr lang="he-IL"/>
            </a:pPr>
            <a:r>
              <a:rPr lang="he-IL"/>
              <a:t>‫</a:t>
            </a:r>
            <a:r>
              <a:rPr lang="he-IL"/>
              <a:t xml:space="preserve">ראיה: כל הרחבה מוצמדת לטריגר מתועד; קישורי </a:t>
            </a:r>
            <a:r>
              <a:rPr lang="en-US"/>
              <a:t xml:space="preserve">Production </a:t>
            </a:r>
            <a:r>
              <a:rPr lang="he-IL"/>
              <a:t>ו־</a:t>
            </a:r>
            <a:r>
              <a:rPr lang="en-US"/>
              <a:t xml:space="preserve">GitHub </a:t>
            </a:r>
            <a:r>
              <a:rPr lang="he-IL"/>
              <a:t>מסיימים את ההצגה.</a:t>
            </a:r>
            <a:r>
              <a:rPr lang="he-IL"/>
              <a:t>‬</a:t>
            </a:r>
            <a:endParaRPr lang="he-IL"/>
          </a:p>
          <a:p xmlns:a="http://schemas.openxmlformats.org/drawingml/2006/main">
            <a:pPr algn="r">
              <a:buNone/>
            </a:pPr>
            <a:r>
              <a:t>[Sources]</a:t>
            </a:r>
            <a:endParaRPr/>
          </a:p>
          <a:p xmlns:a="http://schemas.openxmlformats.org/drawingml/2006/main">
            <a:pPr algn="r">
              <a:buNone/>
            </a:pPr>
            <a:r>
              <a:t>docs/product.md §§5.2, 8.2, 15</a:t>
            </a:r>
            <a:endParaRPr/>
          </a:p>
          <a:p xmlns:a="http://schemas.openxmlformats.org/drawingml/2006/main">
            <a:pPr algn="r" rtl="1">
              <a:buNone/>
              <a:defRPr lang="he-IL"/>
            </a:pPr>
            <a:r>
              <a:rPr lang="he-IL"/>
              <a:t>‫</a:t>
            </a:r>
            <a:r>
              <a:rPr lang="en-US"/>
              <a:t xml:space="preserve">docs/scale.md — </a:t>
            </a:r>
            <a:r>
              <a:rPr lang="he-IL"/>
              <a:t>גבולות ורמזי הרחבה</a:t>
            </a:r>
            <a:r>
              <a:rPr lang="he-IL"/>
              <a:t>‬</a:t>
            </a:r>
            <a:endParaRPr lang="he-IL"/>
          </a:p>
          <a:p xmlns:a="http://schemas.openxmlformats.org/drawingml/2006/main">
            <a:pPr algn="r">
              <a:buNone/>
            </a:pPr>
            <a:r>
              <a:t>docs/architecture.md §§2, 19, 21</a:t>
            </a:r>
            <a:endParaRPr/>
          </a:p>
          <a:p xmlns:a="http://schemas.openxmlformats.org/drawingml/2006/main">
            <a:pPr algn="r">
              <a:buNone/>
            </a:pPr>
            <a:r>
              <a:t>README.md — Slice 9</a:t>
            </a:r>
            <a:endParaRPr/>
          </a:p>
          <a:p xmlns:a="http://schemas.openxmlformats.org/drawingml/2006/main">
            <a:pPr algn="r">
              <a:buNone/>
            </a:pPr>
            <a:r>
              <a:t>presentation/demo-script.md</a:t>
            </a:r>
            <a:endParaRPr/>
          </a:p>
          <a:p xmlns:a="http://schemas.openxmlformats.org/drawingml/2006/main">
            <a:pPr algn="r"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Id1" /><Relationship Type="http://schemas.openxmlformats.org/officeDocument/2006/relationships/slideLayout" Target="/ppt/slideLayouts/slideLayout1.xml" Id="rId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1.xml" Id="rId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2.xml" Id="rId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.png" Id="rId2" /><Relationship Type="http://schemas.openxmlformats.org/officeDocument/2006/relationships/notesSlide" Target="/ppt/notesSlides/notesSlide3.xml" Id="rId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2.png" Id="rId2" /><Relationship Type="http://schemas.openxmlformats.org/officeDocument/2006/relationships/image" Target="/ppt/media/image3.png" Id="rId3" /><Relationship Type="http://schemas.openxmlformats.org/officeDocument/2006/relationships/image" Target="/ppt/media/image4.png" Id="rId4" /><Relationship Type="http://schemas.openxmlformats.org/officeDocument/2006/relationships/notesSlide" Target="/ppt/notesSlides/notesSlide4.xml" Id="rId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5.xml" Id="rId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6.xml" Id="rId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7.xml" Id="rId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8.xml" Id="rId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5.png" Id="rId2" /><Relationship Type="http://schemas.openxmlformats.org/officeDocument/2006/relationships/notesSlide" Target="/ppt/notesSlides/notesSlide9.xml" Id="rId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10.xml" Id="rId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11.xml" Id="rId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12.xml" Id="rId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hyperlink" Target="https://predictor-swart.vercel.app" TargetMode="External" Id="rId2" /><Relationship Type="http://schemas.openxmlformats.org/officeDocument/2006/relationships/hyperlink" Target="https://github.com/talzantkeren/predictor" TargetMode="External" Id="rId3" /><Relationship Type="http://schemas.openxmlformats.org/officeDocument/2006/relationships/notesSlide" Target="/ppt/notesSlides/notesSlide13.xml" Id="rId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797353-67AC-49B1-8A08-9CDBB0396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A28F82-B026-478D-8B2C-848674C5F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RUNI · Internet Technologies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E945CD-BE36-4B11-8998-36FA028CF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5905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Predictor1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3B6156-7595-4256-82DD-340ECBCFA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705100"/>
            <a:ext cx="666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34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34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ליגה פרטית. חיזוי הוגן. דירוג סופי שנשאר סופי.</a:t>
            </a:r>
            <a:endParaRPr lang="he-IL"/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C6F025-246C-46E5-89F3-8A40579B0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10839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92039B-ACA7-45AD-83A3-FFB9F8111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495800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87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87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מערכת אמון למחזור חיים מלא — מהזמנה ועד יישוב תוצאה מאוחרת</a:t>
            </a:r>
            <a:endParaRPr lang="he-IL"/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975303-53E9-45E4-888F-7B9CB4344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5353050"/>
            <a:ext cx="18097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4DE"/>
          </a:solidFill>
          <a:ln xmlns:a="http://schemas.openxmlformats.org/drawingml/2006/main" w="9525">
            <a:solidFill>
              <a:srgbClr val="D48A16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00" b="1" lang="he-IL">
                <a:solidFill>
                  <a:srgbClr val="D48A16"/>
                </a:solidFill>
                <a:latin typeface="Arial"/>
                <a:ea typeface="Arial"/>
                <a:cs typeface="Arial"/>
              </a:defRPr>
            </a:pPr>
            <a:r>
              <a:rPr sz="1500" b="1" lang="he-IL">
                <a:solidFill>
                  <a:srgbClr val="D48A16"/>
                </a:solidFill>
                <a:latin typeface="Arial"/>
                <a:ea typeface="Arial"/>
                <a:cs typeface="Arial"/>
              </a:rPr>
              <a:t>הדגמה בלבד</a:t>
            </a:r>
            <a:endParaRPr lang="he-IL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69E8ED-B8A9-4062-8319-9FF484841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00" b="1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500" b="1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פרויקט גמר</a:t>
            </a:r>
            <a:endParaRPr lang="he-IL"/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A026EC-58F9-4DFB-8EDB-45DEE60B3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34125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4D8D04-F2F2-4247-8C75-177736481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9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· RUNI 2026 · DEMO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5A8F9A-2DAC-46C2-8947-34AB024E5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944924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F9053A-AD1F-4F2F-854B-0DEE17D8B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A4ED82-17BD-47D0-8D69-D5DDCF074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33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הבעיה והקהל</a:t>
            </a:r>
            <a:endParaRPr lang="he-IL"/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74722D-68BA-425D-8FB4-7CFDE47AE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כשהליגה מתנהלת בצ׳אט, אין מקור אמת אחד</a:t>
            </a:r>
            <a:endParaRPr lang="he-IL"/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381F10-CA7F-4113-8DE7-252E2DD3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90600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7566C6-42E5-4259-8ABB-6CF7CFF4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314450"/>
            <a:ext cx="685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87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87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מנהלי ליגות פרטיות מרכזים בקשות, אסמכתאות, ניחושים ותוצאות בין הודעות וגיליונות.</a:t>
            </a:r>
            <a:endParaRPr lang="he-IL"/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CC1784-8E02-4351-8FC2-E2365C1D1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81250"/>
            <a:ext cx="857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3B47F9-9977-45A3-8777-66D1BF269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343150"/>
            <a:ext cx="4048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2175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2175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מי בפנים?</a:t>
            </a:r>
            <a:endParaRPr lang="he-IL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11A962-E190-4934-8277-01B809D88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52725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7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57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חברות מאושרת, לא רשימת שמות מאולתרת</a:t>
            </a:r>
            <a:endParaRPr lang="he-IL"/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C48FC4-5658-474C-8796-07BC6F9AB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219450"/>
            <a:ext cx="933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4C893E-AAFA-4888-8748-88E0A081B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48050"/>
            <a:ext cx="857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4174FE-9E30-477D-8CE5-3BB38F9FD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409950"/>
            <a:ext cx="4048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2175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2175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מתי ננעל?</a:t>
            </a:r>
            <a:endParaRPr lang="he-IL"/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8D97D8-B8F9-4459-85BD-B939A6251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19525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7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57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זמן מסד אחד, לא שעון מקומי ולא זיכרון</a:t>
            </a:r>
            <a:endParaRPr lang="he-IL"/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AB9956-C5CC-48CA-867B-71F65F52E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286250"/>
            <a:ext cx="933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3A3136-EB66-445D-861D-828DD0C05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857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2815B2-9BE4-4CD7-86B6-733C5CAAE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476750"/>
            <a:ext cx="4048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2175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2175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למה הניקוד השתנה?</a:t>
            </a:r>
            <a:endParaRPr lang="he-IL"/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08DDA3-8CA6-424D-8BC0-CF6A3C428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886325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7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57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כלל, תוצאה וגרסה שאפשר להסביר</a:t>
            </a:r>
            <a:endParaRPr lang="he-IL"/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779DF3-7A37-4899-8789-6815CD598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619750"/>
            <a:ext cx="638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2025" b="1" lang="he-IL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2025" b="1" lang="he-IL">
                <a:solidFill>
                  <a:srgbClr val="1F75CC"/>
                </a:solidFill>
                <a:latin typeface="Arial"/>
                <a:ea typeface="Arial"/>
                <a:cs typeface="Arial"/>
              </a:rPr>
              <a:t>הבעיה המרכזית היא אמון — לא רק חישוב.</a:t>
            </a:r>
            <a:endParaRPr lang="he-IL"/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DD099D-B9AC-493F-8612-52B6C865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34125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20B003-CE5E-4E84-87A6-8AC5AA87D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9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· RUNI 2026 · DEMO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15DB14-9CE4-4DCA-8CA2-9293CC41B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120310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626A33-9F3A-4552-81F0-08208C06D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4EC428-9477-4974-856B-61F41DDA9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33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תפקידים וזרימות</a:t>
            </a:r>
            <a:endParaRPr lang="he-IL"/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D8FFF3-EB37-41EA-87F7-9569E550C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תפקידים נפרדים; ההרשאה תחומה לליגה</a:t>
            </a:r>
            <a:endParaRPr lang="he-IL"/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3C9A31-2B56-4137-8907-A5EA647AD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90600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E2762A-2496-4CAC-8D64-316D453B2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52575"/>
            <a:ext cx="5191125" cy="2962275"/>
          </a:xfrm>
          <a:prstGeom xmlns:a="http://schemas.openxmlformats.org/drawingml/2006/main" prst="roundRect">
            <a:avLst>
              <a:gd name="adj" fmla="val 38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2"/>
          <a:srcRect xmlns:a="http://schemas.openxmlformats.org/drawingml/2006/main" l="10" t="0" r="1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1600200"/>
            <a:ext cx="5095875" cy="2867025"/>
          </a:xfrm>
          <a:prstGeom xmlns:a="http://schemas.openxmlformats.org/drawingml/2006/main" prst="roundRect">
            <a:avLst>
              <a:gd name="adj" fmla="val 2658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BA3E7C-6266-4ABA-895A-C7244A9F5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648200"/>
            <a:ext cx="4619625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E5F7F4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275" b="1" lang="he-IL">
                <a:solidFill>
                  <a:srgbClr val="087A5B"/>
                </a:solidFill>
                <a:latin typeface="Arial"/>
                <a:ea typeface="Arial"/>
                <a:cs typeface="Arial"/>
              </a:defRPr>
            </a:pPr>
            <a:r>
              <a:rPr sz="1275" b="1" lang="he-IL">
                <a:solidFill>
                  <a:srgbClr val="087A5B"/>
                </a:solidFill>
                <a:latin typeface="Arial"/>
                <a:ea typeface="Arial"/>
                <a:cs typeface="Arial"/>
              </a:rPr>
              <a:t>ראיה מן המוצר: שמות תצוגה בלבד</a:t>
            </a:r>
            <a:endParaRPr lang="he-IL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24FBBD-AAB7-4E32-8387-BEB78DB3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16573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A2EF0A-E1DB-40B6-86EF-020E0648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24000"/>
            <a:ext cx="5067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אורחים נכנסים מהזמנה; מבקשי הצטרפות מעלים תמונת הדגמה פרטית.</a:t>
            </a:r>
            <a:endParaRPr lang="he-IL"/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3F16E0-AAE2-433F-8BA1-7A9216B60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25336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AF940F-F09C-4204-8F06-0CFFF826C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00300"/>
            <a:ext cx="5067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מנהל הליגה מאשר חברות ומנהל את הליגה; חבר פעיל מנחש וצופה בדירוג.</a:t>
            </a:r>
            <a:endParaRPr lang="he-IL"/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989E2D-649B-4D0E-8642-4652412E3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34099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3CFA12-A95C-4067-86B4-62CA16BE4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76600"/>
            <a:ext cx="5067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מנהל מערכת מטפל בקטלוג ובחריגי תוצאה — בלי להפוך אוטומטית לחבר בליגה.</a:t>
            </a:r>
            <a:endParaRPr lang="he-IL"/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72A238-4E4F-4AB6-8122-462DC2C42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42862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9BAA36-F822-41BF-84C7-CAC30870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52900"/>
            <a:ext cx="5067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ניהול ליגה אחת אינו מעניק הרשאה לליגה אחרת.</a:t>
            </a:r>
            <a:endParaRPr lang="he-IL"/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DB0FB4-1E4C-45D7-8F64-29F70C112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448300"/>
            <a:ext cx="571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875" b="1" lang="he-IL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875" b="1" lang="he-IL">
                <a:solidFill>
                  <a:srgbClr val="1F75CC"/>
                </a:solidFill>
                <a:latin typeface="Arial"/>
                <a:ea typeface="Arial"/>
                <a:cs typeface="Arial"/>
              </a:rPr>
              <a:t>תפקיד הוא תחום אחריות, לא קיצור דרך להרשאה רחבה.</a:t>
            </a:r>
            <a:endParaRPr lang="he-IL"/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53B063-ABCD-4109-8055-485ADFF3E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34125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EFF01C-B656-4E4F-8040-ACA1FF084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9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· RUNI 2026 · DEMO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0D6ED3-73DC-469A-8706-F19AD924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89620184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21DADF-C01A-4BF9-801D-2AB16E67A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4EE2E7-945E-45A7-8C08-913C3D789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33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מפת הדגמה חיה</a:t>
            </a:r>
            <a:endParaRPr lang="he-IL"/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08D600-B319-4A02-803D-952FDC5E6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המחזור המלא נראה בדמו — בלי קיצור דרך</a:t>
            </a:r>
            <a:endParaRPr lang="he-IL"/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B514E1-211B-4396-87BA-C8ECA93D7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90600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C1FF88-12FB-4B8E-8530-947747111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714500"/>
            <a:ext cx="400050" cy="17145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5E16C2-6C4F-4C21-848A-ADB661063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714500"/>
            <a:ext cx="400050" cy="17145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93A203-777B-4600-874B-495B3A92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323975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875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875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 xml:space="preserve">פתוחה · </a:t>
            </a:r>
            <a:r>
              <a:rPr sz="1875" b="1" lang="en-US">
                <a:solidFill>
                  <a:srgbClr val="10233F"/>
                </a:solidFill>
                <a:latin typeface="Arial"/>
                <a:ea typeface="Arial"/>
                <a:cs typeface="Arial"/>
              </a:rPr>
              <a:t>open</a:t>
            </a:r>
            <a:r>
              <a:rPr lang="he-IL"/>
              <a:t>‬</a:t>
            </a:r>
            <a:endParaRPr lang="he-IL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8E203-7637-4AC0-8FD4-BE70DC79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62125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350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350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מהזמנה לבקשה, לאסמכתה ולאישור</a:t>
            </a:r>
            <a:endParaRPr lang="he-IL"/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15C500-5930-476A-84C8-8E655BB2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6975"/>
            <a:ext cx="3238500" cy="186690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2"/>
          <a:srcRect xmlns:a="http://schemas.openxmlformats.org/drawingml/2006/main" l="101" t="0" r="10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05750" y="2514600"/>
            <a:ext cx="3143250" cy="1771650"/>
          </a:xfrm>
          <a:prstGeom xmlns:a="http://schemas.openxmlformats.org/drawingml/2006/main" prst="roundRect">
            <a:avLst>
              <a:gd name="adj" fmla="val 4301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A8D0B3-E044-4097-8045-C26187029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23975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875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875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 xml:space="preserve">פעילה · </a:t>
            </a:r>
            <a:r>
              <a:rPr sz="1875" b="1" lang="en-US">
                <a:solidFill>
                  <a:srgbClr val="10233F"/>
                </a:solidFill>
                <a:latin typeface="Arial"/>
                <a:ea typeface="Arial"/>
                <a:cs typeface="Arial"/>
              </a:rPr>
              <a:t>active</a:t>
            </a:r>
            <a:r>
              <a:rPr lang="he-IL"/>
              <a:t>‬</a:t>
            </a:r>
            <a:endParaRPr lang="he-IL"/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D9B7F3-2A93-4739-8D17-5BD13083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62125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350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350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מניחוש לנעילה, לניקוד ולדירוג נוכחי</a:t>
            </a:r>
            <a:endParaRPr lang="he-IL"/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02D9A9-46ED-423B-85C7-D29C52342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466975"/>
            <a:ext cx="3238500" cy="186690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3"/>
          <a:srcRect xmlns:a="http://schemas.openxmlformats.org/drawingml/2006/main" l="101" t="0" r="10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86250" y="2514600"/>
            <a:ext cx="3143250" cy="1771650"/>
          </a:xfrm>
          <a:prstGeom xmlns:a="http://schemas.openxmlformats.org/drawingml/2006/main" prst="roundRect">
            <a:avLst>
              <a:gd name="adj" fmla="val 4301"/>
            </a:avLst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67BFD2-D654-452B-8637-D714BC795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23975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875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875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 xml:space="preserve">הושלמה · </a:t>
            </a:r>
            <a:r>
              <a:rPr sz="1875" b="1" lang="en-US">
                <a:solidFill>
                  <a:srgbClr val="10233F"/>
                </a:solidFill>
                <a:latin typeface="Arial"/>
                <a:ea typeface="Arial"/>
                <a:cs typeface="Arial"/>
              </a:rPr>
              <a:t>completed</a:t>
            </a:r>
            <a:r>
              <a:rPr lang="he-IL"/>
              <a:t>‬</a:t>
            </a:r>
            <a:endParaRPr lang="he-IL"/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65B8CA-519F-4C2D-893B-9CA7325FE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350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350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מהקפאה לדירוג סופי וליישוב מאוחר</a:t>
            </a:r>
            <a:endParaRPr lang="he-IL"/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0B5461-E702-4444-8F50-DDEC47FC6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66975"/>
            <a:ext cx="3238500" cy="186690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4"/>
          <a:srcRect xmlns:a="http://schemas.openxmlformats.org/drawingml/2006/main" l="101" t="0" r="10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2514600"/>
            <a:ext cx="3143250" cy="1771650"/>
          </a:xfrm>
          <a:prstGeom xmlns:a="http://schemas.openxmlformats.org/drawingml/2006/main" prst="roundRect">
            <a:avLst>
              <a:gd name="adj" fmla="val 4301"/>
            </a:avLst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CDA843-15BA-47F4-8E51-9D09ECC65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05350"/>
            <a:ext cx="103822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BE06A5-27A6-4EDA-81FA-561A4CB7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57750"/>
            <a:ext cx="9810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80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80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בדמו כל מעבר מתבצע דרך ה־</a:t>
            </a:r>
            <a:r>
              <a:rPr sz="1800" b="1" lang="en-US">
                <a:solidFill>
                  <a:srgbClr val="10233F"/>
                </a:solidFill>
                <a:latin typeface="Arial"/>
                <a:ea typeface="Arial"/>
                <a:cs typeface="Arial"/>
              </a:rPr>
              <a:t xml:space="preserve">UI. </a:t>
            </a:r>
            <a:r>
              <a:rPr sz="180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אין עדכון ישיר במסד כדי לזייף שלב שנראה למשתמש.</a:t>
            </a:r>
            <a:r>
              <a:rPr lang="he-IL"/>
              <a:t>‬</a:t>
            </a:r>
            <a:endParaRPr lang="he-IL"/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444308-541F-499A-8C8B-D9E8BF81C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705475"/>
            <a:ext cx="942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350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350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אם שלב חי אינו נצפה במהירות — עוברים לצילום המקביל, בלי לטעון שהשלב עבר.</a:t>
            </a:r>
            <a:endParaRPr lang="he-IL"/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97206A-5900-4B0B-8D0F-A568F815F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34125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934FDA-3E26-4BC5-80E9-B3FBEFA67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9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· RUNI 2026 · DEMO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212AED-71F2-44DD-8137-CAC3A3908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5889891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98882EE-69A8-4A50-8839-D988AD094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7FC8D9-C1A6-47A8-8095-8E5B9B599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33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ארכיטקטורה</a:t>
            </a:r>
            <a:endParaRPr lang="he-IL"/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002A82-DBE1-48BA-84F3-5215CDC09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יישום אחד; כל כלל נאכף בשכבה הנכונה</a:t>
            </a:r>
            <a:endParaRPr lang="he-IL"/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00B718-4575-4D06-80CB-98E458F13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90600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4E99C7-7CC5-4751-80CA-0244D63B3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524125"/>
            <a:ext cx="5715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F7A8D2-55A5-4EAE-828C-D0EF68123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524125"/>
            <a:ext cx="5715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9A50E2-C0B0-4632-89EE-813885BB2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524125"/>
            <a:ext cx="5715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88BB8A-EE99-4B0A-8C1C-5F617CB86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43075"/>
            <a:ext cx="21907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CEBD81-AE64-4CCA-8E30-D522198EC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1924050"/>
            <a:ext cx="1847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Browser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BE2AB2-DBBE-4E8D-894E-6D5DF47A0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476500"/>
            <a:ext cx="1809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500" b="0" lang="en-US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RTL · </a:t>
            </a:r>
            <a:r>
              <a: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טפסים · משוב</a:t>
            </a:r>
            <a:r>
              <a:rPr lang="he-IL"/>
              <a:t>‬</a:t>
            </a:r>
            <a:endParaRPr lang="he-IL"/>
          </a:p>
          <a:p xmlns:a="http://schemas.openxmlformats.org/drawingml/2006/main">
            <a:pPr algn="r" rtl="1">
              <a:def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בלי סמכות עסקית</a:t>
            </a:r>
            <a:endParaRPr lang="he-IL"/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8BB5C9-62D8-4D4D-8F65-EB655B83A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43075"/>
            <a:ext cx="21907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E3E8B3-117B-4CED-885C-0AC7391BF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924050"/>
            <a:ext cx="1847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Next.js 16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03C9A3-D3DA-4449-8303-5170503FE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476500"/>
            <a:ext cx="1809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33A"/>
                </a:solidFill>
                <a:latin typeface="Arial"/>
                <a:ea typeface="Arial"/>
                <a:cs typeface="Arial"/>
              </a:rPr>
              <a:t>Server Components</a:t>
            </a:r>
          </a:p>
          <a:p xmlns:a="http://schemas.openxmlformats.org/drawingml/2006/main">
            <a:pPr algn="ctr">
              <a:defRPr sz="1500" b="0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33A"/>
                </a:solidFill>
                <a:latin typeface="Arial"/>
                <a:ea typeface="Arial"/>
                <a:cs typeface="Arial"/>
              </a:rPr>
              <a:t>Server Actions</a:t>
            </a:r>
          </a:p>
          <a:p xmlns:a="http://schemas.openxmlformats.org/drawingml/2006/main">
            <a:pPr algn="ctr">
              <a:defRPr sz="1500" b="0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33A"/>
                </a:solidFill>
                <a:latin typeface="Arial"/>
                <a:ea typeface="Arial"/>
                <a:cs typeface="Arial"/>
              </a:rPr>
              <a:t>Route Handlers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2DF6F7-C88D-4C3B-81DB-CFEB2F977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743075"/>
            <a:ext cx="21907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5F7F4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A85498-CADD-485E-8E27-0173C1340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1924050"/>
            <a:ext cx="1847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210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210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שירותי תכונה</a:t>
            </a:r>
            <a:endParaRPr lang="he-IL"/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F9BED6-BA14-4C47-8275-BE77E2F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476500"/>
            <a:ext cx="1809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לוגיקה משותפת</a:t>
            </a:r>
            <a:endParaRPr lang="he-IL"/>
          </a:p>
          <a:p xmlns:a="http://schemas.openxmlformats.org/drawingml/2006/main">
            <a:pPr algn="r" rtl="1">
              <a:def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בלי </a:t>
            </a:r>
            <a:r>
              <a:rPr sz="1500" b="0" lang="en-US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Request </a:t>
            </a:r>
            <a:r>
              <a: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או </a:t>
            </a:r>
            <a:r>
              <a:rPr sz="1500" b="0" lang="en-US">
                <a:solidFill>
                  <a:srgbClr val="17233A"/>
                </a:solidFill>
                <a:latin typeface="Arial"/>
                <a:ea typeface="Arial"/>
                <a:cs typeface="Arial"/>
              </a:rPr>
              <a:t>React</a:t>
            </a:r>
            <a:r>
              <a:rPr lang="he-IL"/>
              <a:t>‬</a:t>
            </a:r>
            <a:endParaRPr lang="he-IL"/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3B1C7B-F18C-46E0-8610-B17707FE2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43075"/>
            <a:ext cx="21907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4DE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C03664-C3F4-4134-8738-62B327EBA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924050"/>
            <a:ext cx="1847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PostgreSQL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885499-2172-4549-8AD8-3C6F86DC9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76500"/>
            <a:ext cx="1809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677"/>
          </a:bodyPr>
          <a:lstStyle xmlns:a="http://schemas.openxmlformats.org/drawingml/2006/main"/>
          <a:p xmlns:a="http://schemas.openxmlformats.org/drawingml/2006/main">
            <a:pPr algn="r" rtl="1">
              <a:def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500" b="0" lang="en-US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RLS · </a:t>
            </a:r>
            <a:r>
              <a: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אילוצים · זמן מסד</a:t>
            </a:r>
            <a:r>
              <a:rPr lang="he-IL"/>
              <a:t>‬</a:t>
            </a:r>
            <a:endParaRPr lang="he-IL"/>
          </a:p>
          <a:p xmlns:a="http://schemas.openxmlformats.org/drawingml/2006/main">
            <a:pPr algn="ctr">
              <a:defRPr sz="1500" b="0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33A"/>
                </a:solidFill>
                <a:latin typeface="Arial"/>
                <a:ea typeface="Arial"/>
                <a:cs typeface="Arial"/>
              </a:rPr>
              <a:t>transactions · scoring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696929-620A-4462-816D-0EA5C4C55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4812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275" b="1" lang="he-IL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275" b="1" lang="he-IL">
                <a:solidFill>
                  <a:srgbClr val="1F75CC"/>
                </a:solidFill>
                <a:latin typeface="Arial"/>
                <a:ea typeface="Arial"/>
                <a:cs typeface="Arial"/>
              </a:rPr>
              <a:t>קריאות</a:t>
            </a:r>
            <a:endParaRPr lang="he-IL"/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6F4803-F409-4012-8B08-804953FF8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33875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Server Components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9D31E3-194C-4C67-8085-E254DB1B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04812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275" b="1" lang="he-IL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275" b="1" lang="he-IL">
                <a:solidFill>
                  <a:srgbClr val="1F75CC"/>
                </a:solidFill>
                <a:latin typeface="Arial"/>
                <a:ea typeface="Arial"/>
                <a:cs typeface="Arial"/>
              </a:rPr>
              <a:t>פעולות שינוי בממשק</a:t>
            </a:r>
            <a:endParaRPr lang="he-IL"/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219EF7-C89E-43FD-833B-59E909FB4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333875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Server Actions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A5115D-D1DB-4BAE-8E3D-4D445EBA0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4812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upload · Cron · HTTP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ABA795-1AF9-4A3A-8AD3-64D783DFC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333875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Route Handlers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E9BDA3-075A-4775-8F21-094FC149B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981575"/>
            <a:ext cx="866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650" b="1" lang="he-IL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650" b="1" lang="he-IL">
                <a:solidFill>
                  <a:srgbClr val="1F75CC"/>
                </a:solidFill>
                <a:latin typeface="Arial"/>
                <a:ea typeface="Arial"/>
                <a:cs typeface="Arial"/>
              </a:rPr>
              <a:t>יישום יחיד ב־</a:t>
            </a:r>
            <a:r>
              <a:rPr sz="1650" b="1" lang="en-US">
                <a:solidFill>
                  <a:srgbClr val="1F75CC"/>
                </a:solidFill>
                <a:latin typeface="Arial"/>
                <a:ea typeface="Arial"/>
                <a:cs typeface="Arial"/>
              </a:rPr>
              <a:t xml:space="preserve">Next.js 16; </a:t>
            </a:r>
            <a:r>
              <a:rPr sz="1650" b="1" lang="he-IL">
                <a:solidFill>
                  <a:srgbClr val="1F75CC"/>
                </a:solidFill>
                <a:latin typeface="Arial"/>
                <a:ea typeface="Arial"/>
                <a:cs typeface="Arial"/>
              </a:rPr>
              <a:t>שירותי המעטפת ניתנים ב־</a:t>
            </a:r>
            <a:r>
              <a:rPr sz="1650" b="1" lang="en-US">
                <a:solidFill>
                  <a:srgbClr val="1F75CC"/>
                </a:solidFill>
                <a:latin typeface="Arial"/>
                <a:ea typeface="Arial"/>
                <a:cs typeface="Arial"/>
              </a:rPr>
              <a:t>Supabase.</a:t>
            </a:r>
            <a:r>
              <a:rPr lang="he-IL"/>
              <a:t>‬</a:t>
            </a:r>
            <a:endParaRPr lang="he-IL"/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8FA51D-2E3E-4854-8EB1-CA4CE4C37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400675"/>
            <a:ext cx="742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800" b="1" lang="he-IL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800" b="1" lang="he-IL">
                <a:solidFill>
                  <a:srgbClr val="1F75CC"/>
                </a:solidFill>
                <a:latin typeface="Arial"/>
                <a:ea typeface="Arial"/>
                <a:cs typeface="Arial"/>
              </a:rPr>
              <a:t>כל כלל עסקי שחייב לשרוד מרוץ מוכרע ב־</a:t>
            </a:r>
            <a:r>
              <a:rPr sz="1800" b="1" lang="en-US">
                <a:solidFill>
                  <a:srgbClr val="1F75CC"/>
                </a:solidFill>
                <a:latin typeface="Arial"/>
                <a:ea typeface="Arial"/>
                <a:cs typeface="Arial"/>
              </a:rPr>
              <a:t>PostgreSQL.</a:t>
            </a:r>
            <a:r>
              <a:rPr lang="he-IL"/>
              <a:t>‬</a:t>
            </a:r>
            <a:endParaRPr lang="he-IL"/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6C16C9E-592A-4110-85A1-B3023FBCB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34125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C6FCF1-0649-47F4-8C9D-796D1156C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9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· RUNI 2026 · DEMO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5BA6081-463B-4997-8A3D-A56B6604C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43710198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CB15EFD-9660-43E4-8261-E5087FA42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DC0263-EF9B-47CB-89E8-1102FE9B4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33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מודל נתונים</a:t>
            </a:r>
            <a:endParaRPr lang="he-IL"/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992936-A83C-466C-885E-EB9DE1D83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הפרדת הנתונים שומרת החלטות והיסטוריה</a:t>
            </a:r>
            <a:endParaRPr lang="he-IL"/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70F85B-0C1B-444B-8587-334F71B5E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90600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014372-004C-440A-8DEC-D6CF6570E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700" y="1743075"/>
            <a:ext cx="2476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969D4C-68B2-40CE-8F55-682AF7D39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8400" y="1743075"/>
            <a:ext cx="2476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EFA83B-DA90-470A-83ED-5CFF866D3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32448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profiles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DA656F-5E90-4C1C-84DB-05E82C69B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450" y="1504950"/>
            <a:ext cx="32448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join_requests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432A40-6795-4B16-8B76-C53961887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4150" y="1504950"/>
            <a:ext cx="32448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payment_proofs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014FD0-7F36-431C-86E9-4E2E4FB42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52650"/>
            <a:ext cx="1038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27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27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 xml:space="preserve">זהות → תהליך הצטרפות → היסטוריית אסמכתאות </a:t>
            </a:r>
            <a:r>
              <a:rPr sz="1275" b="0" lang="en-US">
                <a:solidFill>
                  <a:srgbClr val="52647A"/>
                </a:solidFill>
                <a:latin typeface="Arial"/>
                <a:ea typeface="Arial"/>
                <a:cs typeface="Arial"/>
              </a:rPr>
              <a:t>1:N</a:t>
            </a:r>
            <a:r>
              <a:rPr lang="he-IL"/>
              <a:t>‬</a:t>
            </a:r>
            <a:endParaRPr lang="he-IL"/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53A84D-988F-4C43-8285-33F1AE8B8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790825"/>
            <a:ext cx="2476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67BE2E-16DE-45D3-8FC8-FFE2F35EF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50292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profiles + leagues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89D8C3-30A7-4830-8F40-C342BB13C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552700"/>
            <a:ext cx="50292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league_members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887CC1-7993-4C14-863B-B8AD7623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1038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27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7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חברות היא ישות נפרדת מן הבקשה</a:t>
            </a:r>
            <a:endParaRPr lang="he-IL"/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C1439D-F621-4DD9-80B2-A12D2DE3D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838575"/>
            <a:ext cx="2476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0A06F2-2C33-4E1F-8CB9-6B68F8966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0450"/>
            <a:ext cx="50292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leagues + matches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E8EECF-F9E0-45B5-801F-32AF928BA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600450"/>
            <a:ext cx="50292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predictions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F68B26-EC97-485C-846A-2A686D4FA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1038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27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7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ניחוש שומר ניקוד וגרסת חישוב</a:t>
            </a:r>
            <a:endParaRPr lang="he-IL"/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BF486A-9736-4D6C-85EE-75ECC628A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4886325"/>
            <a:ext cx="2476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8F675D-B82C-4935-83E2-6ED2CD457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886325"/>
            <a:ext cx="2476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AAFA90-8455-4639-8C67-B8F0D9B3D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4886325"/>
            <a:ext cx="2476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F9AC6B-96EF-4998-8F21-0E7496EB3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48200"/>
            <a:ext cx="2352675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matches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89648F-9507-44B9-8055-D9E87F859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4648200"/>
            <a:ext cx="2352675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match_result_reviews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3C3FB4-DCBB-4A90-8279-F76B3E2BB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648200"/>
            <a:ext cx="2352675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league_match_snapshots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21F902-9314-40D5-82A5-1DC5F8D28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4648200"/>
            <a:ext cx="2352675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league_match_reconciliations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B19F58-E4C4-43F8-86B8-88C79243B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95900"/>
            <a:ext cx="1038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27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7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תוצאה לא־בטוחה → הקפאה → תיקון מאוחר מפורש</a:t>
            </a:r>
            <a:endParaRPr lang="he-IL"/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A1895A-01AE-4E92-87FF-ED42467E4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753100"/>
            <a:ext cx="866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725" b="1" lang="he-IL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725" b="1" lang="he-IL">
                <a:solidFill>
                  <a:srgbClr val="1F75CC"/>
                </a:solidFill>
                <a:latin typeface="Arial"/>
                <a:ea typeface="Arial"/>
                <a:cs typeface="Arial"/>
              </a:rPr>
              <a:t>בקשה, אסמכתה, חברות, ניחוש ותוצאה סופית הן ישויות שונות בכוונה.</a:t>
            </a:r>
            <a:endParaRPr lang="he-IL"/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FE3C82-6608-4B22-8937-8972E96DE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34125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7CFBC4-AA14-4949-8893-45DFC8807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9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· RUNI 2026 · DEMO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FB1450-F137-4DC4-8EC7-26919F846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55819510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F55503-D6E4-4704-8598-5F27B87D7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9A3230-F70E-4017-8D68-873DAF715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33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אבטחה ופרטיות</a:t>
            </a:r>
            <a:endParaRPr lang="he-IL"/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4EF454-7A72-4500-8157-B885D24F1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915"/>
          </a:bodyPr>
          <a:lstStyle xmlns:a="http://schemas.openxmlformats.org/drawingml/2006/main"/>
          <a:p xmlns:a="http://schemas.openxmlformats.org/drawingml/2006/main">
            <a:pPr algn="r" rtl="1">
              <a:def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אבטחה בשכבות — כי שכבה אחת אינה מספיקה</a:t>
            </a:r>
            <a:endParaRPr lang="he-IL"/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9A09CE-8573-4A05-8D8A-99E48943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90600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E16D4E-6719-4D79-872C-02F8853D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1381125"/>
            <a:ext cx="66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EFF9C7-B648-4CEC-8E96-F8816EB36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381125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875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875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זהות</a:t>
            </a:r>
            <a:endParaRPr lang="he-IL"/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2ED004-C812-4A74-8511-820D38D73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43075"/>
            <a:ext cx="938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00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500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מאמתים מחדש את זהות המשתמש בכל כניסה לפעולה</a:t>
            </a:r>
            <a:endParaRPr lang="he-IL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50E369-E35B-437E-87C2-968081971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19325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D39CE8-7DF9-4229-8DBA-7153FE30A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352675"/>
            <a:ext cx="66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41295D-56BE-48E3-802E-7875CC4A4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52675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875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875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הרשאת משאב</a:t>
            </a:r>
            <a:endParaRPr lang="he-IL"/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1B40AD-7800-40E1-85AF-BD9BE7F1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938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00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500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בדיקה מול הליגה או האסמכתה המדויקת — בנפרד מגבול הרשימה</a:t>
            </a:r>
            <a:endParaRPr lang="he-IL"/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E0E88A-30D1-4F35-8E98-635A07C1B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90875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4D4306-C0D2-4AA3-8296-6182A6DDE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324225"/>
            <a:ext cx="66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64BDC6-AB49-4E92-87FA-D9E5A056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24225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875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875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משמעת הרשאות במסד</a:t>
            </a:r>
            <a:endParaRPr lang="he-IL"/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2EA715-DFF4-40A0-84DB-FE88CBF0F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86175"/>
            <a:ext cx="938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RLS · least-privilege grants · SECURITY DEFINER · empty search_path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C7EB13-0FDB-4A34-8FC6-967740D04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62425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39D005-9141-4C8F-8997-46398891E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295775"/>
            <a:ext cx="66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21956D-5795-4C0D-89B2-4581C7BD2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95775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875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875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קובץ פרטי</a:t>
            </a:r>
            <a:endParaRPr lang="he-IL"/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CE563C-B97B-4BBF-8C9A-7286ED75E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57725"/>
            <a:ext cx="938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signature/decode → WebP → private bucket → short-lived signed URL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702431-2646-456D-8F98-F5FF3F1AC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429250"/>
            <a:ext cx="10287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5F7F4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7F8F86-2DFB-4CE0-875E-F188AF1B9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534025"/>
            <a:ext cx="971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875" b="1" lang="he-IL">
                <a:solidFill>
                  <a:srgbClr val="087A5B"/>
                </a:solidFill>
                <a:latin typeface="Arial"/>
                <a:ea typeface="Arial"/>
                <a:cs typeface="Arial"/>
              </a:defRPr>
            </a:pPr>
            <a:r>
              <a:rPr sz="1875" b="1" lang="he-IL">
                <a:solidFill>
                  <a:srgbClr val="087A5B"/>
                </a:solidFill>
                <a:latin typeface="Arial"/>
                <a:ea typeface="Arial"/>
                <a:cs typeface="Arial"/>
              </a:rPr>
              <a:t>מזהה חוקי, דפדוף תחום או ממשק מוסתר אינם הרשאה.</a:t>
            </a:r>
            <a:endParaRPr lang="he-IL"/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C97868-506E-4BF0-85AF-9D311210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34125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59D086-A532-4B4D-81D2-A5AA97859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9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· RUNI 2026 · DEMO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577060-DA7E-4027-813A-23512ACC7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0034353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35D9CFA-9E99-4DAC-82A3-0C59D1CEC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2C9211-8140-4A0F-8861-4D69F4316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33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הוגנות ונעילה</a:t>
            </a:r>
            <a:endParaRPr lang="he-IL"/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88BBA3-5978-41D5-8ED5-ACB48BBCE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את מועד הנעילה קובע המסד</a:t>
            </a:r>
            <a:endParaRPr lang="he-IL"/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9C66FB-883A-490B-84FD-618C93618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90600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007240-B437-4EFA-8691-BC4DF55A8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095500"/>
            <a:ext cx="438150" cy="17145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1CD4A7-5243-4939-8336-3EA8C56EF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095500"/>
            <a:ext cx="438150" cy="17145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C5CB51-6B8E-4FA8-895E-86FA90391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095500"/>
            <a:ext cx="438150" cy="17145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DB89A4-5169-4116-8D4A-4E1901CC9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562100"/>
            <a:ext cx="20002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B14C16-1E77-483F-8BDF-56550897F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1733550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1 · leagues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2FFFD7-E52E-477B-8816-758D2E13B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2238375"/>
            <a:ext cx="1657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350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350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נועלים את מצב הליגה</a:t>
            </a:r>
            <a:endParaRPr lang="he-IL"/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516EED-A72D-481E-83A5-73A2A80E3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562100"/>
            <a:ext cx="20002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465AA1-5A31-444E-82D8-CBFB3CDD6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1733550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607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2 · league_members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83AE9F-27BF-4538-8508-7B37A064A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238375"/>
            <a:ext cx="1657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350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350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מוודאים חברות פעילה</a:t>
            </a:r>
            <a:endParaRPr lang="he-IL"/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8D6A66-7AFF-4AE3-8FF4-F6C75C0E2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1562100"/>
            <a:ext cx="20002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2F23E2-386F-4331-8D21-CFAB94421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1733550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3 · matches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D09BB2-F42E-44A8-849C-8A5DA99E3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2238375"/>
            <a:ext cx="1657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350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350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נועלים את המשחק</a:t>
            </a:r>
            <a:endParaRPr lang="he-IL"/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E350F0-0E00-47FE-8693-7340AECEC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562100"/>
            <a:ext cx="20002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4DE"/>
          </a:solidFill>
          <a:ln xmlns:a="http://schemas.openxmlformats.org/drawingml/2006/main" w="9525">
            <a:solidFill>
              <a:srgbClr val="D48A1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179D08-E34D-474A-8B54-97CDF364E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1733550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134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4 · clock_timestamp()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F8935B-DBD8-41F7-87EE-247FB24A1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238375"/>
            <a:ext cx="1657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350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350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רק עכשיו קוראים זמן</a:t>
            </a:r>
            <a:endParaRPr lang="he-IL"/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CFC8B3-EE72-4F19-8532-A4B8B94DE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429000"/>
            <a:ext cx="91440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70A339-6A8A-4638-838E-8BD205853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609975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2025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2025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 xml:space="preserve">אם </a:t>
            </a:r>
            <a:r>
              <a:rPr sz="2025" b="1" lang="en-US">
                <a:solidFill>
                  <a:srgbClr val="10233F"/>
                </a:solidFill>
                <a:latin typeface="Arial"/>
                <a:ea typeface="Arial"/>
                <a:cs typeface="Arial"/>
              </a:rPr>
              <a:t xml:space="preserve">kickoff_at ≤ </a:t>
            </a:r>
            <a:r>
              <a:rPr sz="2025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זמן המסד — השמירה נדחית, גם אם הבקשה התחילה קודם.</a:t>
            </a:r>
            <a:r>
              <a:rPr lang="he-IL"/>
              <a:t>‬</a:t>
            </a:r>
            <a:endParaRPr lang="he-IL"/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BFBB6C-85DD-4B42-8C44-FE0562431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46863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32E4AD-1629-4091-83D9-32FD88D6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552950"/>
            <a:ext cx="7686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כל הזמנים נשמרים ב־</a:t>
            </a:r>
            <a:r>
              <a:rPr sz="1500" b="0" lang="en-US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UTC; </a:t>
            </a:r>
            <a:r>
              <a: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ה־</a:t>
            </a:r>
            <a:r>
              <a:rPr sz="1500" b="0" lang="en-US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countdown </a:t>
            </a:r>
            <a:r>
              <a: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הוא עזר תצוגה בלבד.</a:t>
            </a:r>
            <a:r>
              <a:rPr lang="he-IL"/>
              <a:t>‬</a:t>
            </a:r>
            <a:endParaRPr lang="he-IL"/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73FDA9-BFEE-42E8-80BE-EA24DE9B8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51244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9C87D7-3256-4944-8325-E2C0F9D18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991100"/>
            <a:ext cx="7686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אחרי שנצפתה התחלה, נעילת המשחק נשארת בלתי הפיכה גם אם ספק שולח מועד עתידי.</a:t>
            </a:r>
            <a:endParaRPr lang="he-IL"/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95F584-9D57-4555-8788-7BAC0E633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55626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651B55-480F-480F-849C-1F9F7147C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429250"/>
            <a:ext cx="7686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בדיקת מרוץ אמיתית חוצה את גבול הפתיחה ומוכרעת לפי זמן המסד.</a:t>
            </a:r>
            <a:endParaRPr lang="he-IL"/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A62CA7-0FB8-44DF-81CC-C4FAD9209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34125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25BAD3-2C4C-4B1A-843B-6C8FD7D03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9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· RUNI 2026 · DEMO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229CBB-3CFE-4575-82BA-3527DD827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78932439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CE5F88-B167-4F25-8DBA-99DCA12EC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7CA3EE-F064-4CF3-8A0E-521E55E24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33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Completion · reconciliation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B3A6A1-E277-487B-8F8F-E2B2EE8C6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סיום ליגה הוא הקפאה אטומית</a:t>
            </a:r>
            <a:endParaRPr lang="he-IL"/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5F4BCC-8AB7-49E5-81BC-A18C6D604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90600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55D015-8C71-4D2E-83A8-3825B552B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905000"/>
            <a:ext cx="4953000" cy="2828925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2"/>
          <a:srcRect xmlns:a="http://schemas.openxmlformats.org/drawingml/2006/main" l="22" t="0" r="2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" y="1952625"/>
            <a:ext cx="4857750" cy="2733675"/>
          </a:xfrm>
          <a:prstGeom xmlns:a="http://schemas.openxmlformats.org/drawingml/2006/main" prst="roundRect">
            <a:avLst>
              <a:gd name="adj" fmla="val 2787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E10B78-B9E3-4583-8424-3D60688FA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86325"/>
            <a:ext cx="3857625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E5F7F4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350" b="1" lang="he-IL">
                <a:solidFill>
                  <a:srgbClr val="087A5B"/>
                </a:solidFill>
                <a:latin typeface="Arial"/>
                <a:ea typeface="Arial"/>
                <a:cs typeface="Arial"/>
              </a:defRPr>
            </a:pPr>
            <a:r>
              <a:rPr sz="1350" b="1" lang="he-IL">
                <a:solidFill>
                  <a:srgbClr val="087A5B"/>
                </a:solidFill>
                <a:latin typeface="Arial"/>
                <a:ea typeface="Arial"/>
                <a:cs typeface="Arial"/>
              </a:rPr>
              <a:t xml:space="preserve">אחרי יישוב מפורש: </a:t>
            </a:r>
            <a:r>
              <a:rPr sz="1350" b="1" lang="en-US">
                <a:solidFill>
                  <a:srgbClr val="087A5B"/>
                </a:solidFill>
                <a:latin typeface="Arial"/>
                <a:ea typeface="Arial"/>
                <a:cs typeface="Arial"/>
              </a:rPr>
              <a:t xml:space="preserve">0 </a:t>
            </a:r>
            <a:r>
              <a:rPr sz="1350" b="1" lang="he-IL">
                <a:solidFill>
                  <a:srgbClr val="087A5B"/>
                </a:solidFill>
                <a:latin typeface="Arial"/>
                <a:ea typeface="Arial"/>
                <a:cs typeface="Arial"/>
              </a:rPr>
              <a:t>נקודות</a:t>
            </a:r>
            <a:endParaRPr lang="he-IL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BA5757-DE39-4043-8343-D3B3C9960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4382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725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725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שער סיום</a:t>
            </a:r>
            <a:endParaRPr lang="he-IL"/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49CBDC-3AD8-4944-809D-E5D811A0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790700"/>
            <a:ext cx="547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כל המשחקים סופיים ופתורים</a:t>
            </a:r>
            <a:endParaRPr lang="he-IL"/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9E1BBF-52B7-4CB2-8F1D-E62DE786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276475"/>
            <a:ext cx="547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6BE7E6-78CB-4949-80FE-7B7CFB4AB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003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725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transaction · snapshot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43A0E0-4003-4115-8F57-848FF681B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752725"/>
            <a:ext cx="547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מצב הליגה ושתי בקשות ההמתנה נסגרים ונשמרים יחד</a:t>
            </a:r>
            <a:endParaRPr lang="he-IL"/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932281-6207-499A-8369-AEEA9FF22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238500"/>
            <a:ext cx="547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4FE5E9-2027-4E2C-8190-A76DB4318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36232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725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LEAGUE_COMPLETED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82727F-6EA7-49CF-8443-3C5ECB5F9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714750"/>
            <a:ext cx="547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האסמכתאות, ההיסטוריה ויומן הביקורת נשמרים</a:t>
            </a:r>
            <a:endParaRPr lang="he-IL"/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F87DB8-6600-44AD-8879-3288FD402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200525"/>
            <a:ext cx="547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D092DE-8F1A-46BB-88F4-60F0A224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3243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725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reconciliation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CEBC79-DC1B-4DB6-8E15-0064AABCE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676775"/>
            <a:ext cx="547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מנוהל בגרסאות; החלטה ישנה, הפעלה חוזרת או ליגה זרה נדחות</a:t>
            </a:r>
            <a:endParaRPr lang="he-IL"/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182C37-0895-4AF2-87BA-D8767BB95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543550"/>
            <a:ext cx="695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875" b="1" lang="he-IL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875" b="1" lang="he-IL">
                <a:solidFill>
                  <a:srgbClr val="1F75CC"/>
                </a:solidFill>
                <a:latin typeface="Arial"/>
                <a:ea typeface="Arial"/>
                <a:cs typeface="Arial"/>
              </a:rPr>
              <a:t>הדירוג אינו משתנה בשקט — אבל תיקון מוצדק נשאר אפשרי ומתועד.</a:t>
            </a:r>
            <a:endParaRPr lang="he-IL"/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9B9E09-E9AB-4529-8FAF-FFCB965B0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34125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EA6CF9-AE02-4C37-8F3C-7EE9ED8A1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9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· RUNI 2026 · DEMO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15EDBF-1CE6-4D80-8551-66A6E328A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7441579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A0887E-814A-40D3-8242-D60900F60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733BB1-A2BE-44C6-8A19-BD0A03BD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33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ראיות שנמדדו</a:t>
            </a:r>
            <a:endParaRPr lang="he-IL"/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B630F6-C42F-417B-81DC-599C3DAD5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כל שכבת בדיקה מוכיחה אמת אחרת</a:t>
            </a:r>
            <a:endParaRPr lang="he-IL"/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CD2AE0-C56C-4371-828B-6977D28FD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90600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BF8CDB-6C2D-4A7B-8660-F534C74F3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31432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2C5443-F2DB-4776-8CA2-0EEEC53AF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09750"/>
            <a:ext cx="2762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50 / 641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B1D435-367C-411B-8799-C5EF6D9FE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2890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Vitest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8A5FD1-ABB2-4BAA-81CD-4EE9CEDA6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62300"/>
            <a:ext cx="26098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קבצים / בדיקות</a:t>
            </a:r>
            <a:endParaRPr lang="he-IL"/>
          </a:p>
          <a:p xmlns:a="http://schemas.openxmlformats.org/drawingml/2006/main">
            <a:pPr algn="r" rtl="1">
              <a:def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 xml:space="preserve">חוקים, </a:t>
            </a:r>
            <a:r>
              <a:rPr sz="1425" b="0" lang="en-US">
                <a:solidFill>
                  <a:srgbClr val="52647A"/>
                </a:solidFill>
                <a:latin typeface="Arial"/>
                <a:ea typeface="Arial"/>
                <a:cs typeface="Arial"/>
              </a:rPr>
              <a:t xml:space="preserve">schemas, </a:t>
            </a:r>
            <a:r>
              <a: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מתאמים וחישובים</a:t>
            </a:r>
            <a:r>
              <a:rPr lang="he-IL"/>
              <a:t>‬</a:t>
            </a:r>
            <a:endParaRPr lang="he-IL"/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8B7652-3B73-415B-8AA5-8E15CAA76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524000"/>
            <a:ext cx="31432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5F7F4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A98CE1-2E14-4C6B-86DF-3910A34E2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809750"/>
            <a:ext cx="2762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087A5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87A5B"/>
                </a:solidFill>
                <a:latin typeface="Arial"/>
                <a:ea typeface="Arial"/>
                <a:cs typeface="Arial"/>
              </a:rPr>
              <a:t>32 / 1,502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316696-A808-49A7-8550-5893C0FEA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62890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pgTAP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849972-007D-4938-8755-ECEC7458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162300"/>
            <a:ext cx="26098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קבצים / בדיקות</a:t>
            </a:r>
            <a:endParaRPr lang="he-IL"/>
          </a:p>
          <a:p xmlns:a="http://schemas.openxmlformats.org/drawingml/2006/main">
            <a:pPr algn="r" rtl="1">
              <a:def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425" b="0" lang="en-US">
                <a:solidFill>
                  <a:srgbClr val="52647A"/>
                </a:solidFill>
                <a:latin typeface="Arial"/>
                <a:ea typeface="Arial"/>
                <a:cs typeface="Arial"/>
              </a:rPr>
              <a:t xml:space="preserve">constraints, RLS, grants, </a:t>
            </a:r>
            <a:r>
              <a: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אטומיות ומרוצים</a:t>
            </a:r>
            <a:r>
              <a:rPr lang="he-IL"/>
              <a:t>‬</a:t>
            </a:r>
            <a:endParaRPr lang="he-IL"/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F1E10E-4855-4D56-8752-424C91348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524000"/>
            <a:ext cx="31432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F77096-8813-42F2-89E4-8628DDAAE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809750"/>
            <a:ext cx="2762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38 / 38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1B10B6-129C-477E-83E6-111387232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2890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Playwright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799869-154F-4C6E-89DD-123B2DB0D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162300"/>
            <a:ext cx="26098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בדיקות שעברו</a:t>
            </a:r>
            <a:endParaRPr lang="he-IL"/>
          </a:p>
          <a:p xmlns:a="http://schemas.openxmlformats.org/drawingml/2006/main">
            <a:pPr algn="r" rtl="1">
              <a:def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זרימות משתמש, הרשאות, נגישות ו־</a:t>
            </a:r>
            <a:r>
              <a:rPr sz="1425" b="0" lang="en-US">
                <a:solidFill>
                  <a:srgbClr val="52647A"/>
                </a:solidFill>
                <a:latin typeface="Arial"/>
                <a:ea typeface="Arial"/>
                <a:cs typeface="Arial"/>
              </a:rPr>
              <a:t>RTL</a:t>
            </a:r>
            <a:r>
              <a:rPr lang="he-IL"/>
              <a:t>‬</a:t>
            </a:r>
            <a:endParaRPr lang="he-IL"/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B96151-D800-4E8E-8D57-2E149CE2E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10096500" cy="933450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0DD2D3-956D-42BA-8F2E-0F76F179A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48225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725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725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בסביבת הבדיקות אין פנייה לספק ספורט חי.</a:t>
            </a:r>
            <a:endParaRPr lang="he-IL"/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46D7D0-4CD9-4272-81F2-3147FD6E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48275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F75CC"/>
                </a:solidFill>
                <a:latin typeface="Arial"/>
                <a:ea typeface="Arial"/>
                <a:cs typeface="Arial"/>
              </a:rPr>
              <a:t>CI · recorded fixtures · fake transport · no live Sports provider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125B1E-B2CF-4B2D-85A2-3120C8DB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7435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27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27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הספירות נצפו ב־</a:t>
            </a:r>
            <a:r>
              <a:rPr sz="1275" b="0" lang="en-US">
                <a:solidFill>
                  <a:srgbClr val="52647A"/>
                </a:solidFill>
                <a:latin typeface="Arial"/>
                <a:ea typeface="Arial"/>
                <a:cs typeface="Arial"/>
              </a:rPr>
              <a:t xml:space="preserve">npm run verify </a:t>
            </a:r>
            <a:r>
              <a:rPr sz="127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על עץ העבודה הסופי.</a:t>
            </a:r>
            <a:r>
              <a:rPr lang="he-IL"/>
              <a:t>‬</a:t>
            </a:r>
            <a:endParaRPr lang="he-IL"/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1A3C40-E374-4BC7-8CE4-CF82E892B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34125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5A9B54-891D-4CC6-8287-193D857DB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9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· RUNI 2026 · DEMO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3C5AFD-BFD8-4766-8FB9-47A23603C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6868158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B144B3A-5D34-4DD5-81A6-02E9BE4C3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1D15A3-1B73-41F7-8B45-2A8E82258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33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EXPLAIN (ANALYZE, BUFFERS)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CA9796-0E0D-461F-81BF-12AAC8E60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קנה מידה שנמדד, לא הובטח</a:t>
            </a:r>
            <a:endParaRPr lang="he-IL"/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68EDF4-7C4A-4D9D-807C-D435EBF80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90600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7C14C2-E7BC-47BE-817B-9973EF6F8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394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7105D9-152B-49E1-8F65-25DBA3574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14475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dashboard_leagues_101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61CD38-8FE3-4BD8-8602-32FF40820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288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EXPLAIN ANALYZE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40BABF-8A5E-4F3F-8AC7-C29E152AB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552575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דשבורד תחום</a:t>
            </a:r>
            <a:endParaRPr lang="he-IL"/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6D3387-0ED7-4D18-82CF-1486C5A90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62100"/>
            <a:ext cx="180975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Function Scan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8868B3-99BD-4B7E-8D88-1BC9F6226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562100"/>
            <a:ext cx="200025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3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350" b="1" lang="en-US">
                <a:solidFill>
                  <a:srgbClr val="10233F"/>
                </a:solidFill>
                <a:latin typeface="Arial"/>
                <a:ea typeface="Arial"/>
                <a:cs typeface="Arial"/>
              </a:rPr>
              <a:t xml:space="preserve">51 </a:t>
            </a:r>
            <a:r>
              <a:rPr sz="13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שורות</a:t>
            </a:r>
            <a:endParaRPr lang="he-IL"/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990CDB-2BA0-43D7-8CDD-D2E6C0188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95525"/>
            <a:ext cx="108394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CF0127-62A3-4BED-89C9-E3F3D701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eligible_leagues_101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9712F9-2DEC-4AE0-8EEB-D0909249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9557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EXPLAIN ANALYZE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4C7A60-D208-4F17-8EA3-DD7CA81D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193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ליגות זמינות</a:t>
            </a:r>
            <a:endParaRPr lang="he-IL"/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D95020-6647-40F3-8C59-1AA29918D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28875"/>
            <a:ext cx="180975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Function Scan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F9F38D-A660-489F-8D0B-62A8EEFB5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428875"/>
            <a:ext cx="200025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3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350" b="1" lang="en-US">
                <a:solidFill>
                  <a:srgbClr val="10233F"/>
                </a:solidFill>
                <a:latin typeface="Arial"/>
                <a:ea typeface="Arial"/>
                <a:cs typeface="Arial"/>
              </a:rPr>
              <a:t xml:space="preserve">51 </a:t>
            </a:r>
            <a:r>
              <a:rPr sz="13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שורות</a:t>
            </a:r>
            <a:endParaRPr lang="he-IL"/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B12D05-8983-47A7-8C86-4296C649C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108394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4DB269-F176-4166-844C-705AE1231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48025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revealed_predictions_202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9DC907-3F31-45A6-8691-14D1D53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623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EXPLAIN ANALYZE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548345-8D6C-4744-8A3C-46FF60A71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286125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ניחושים חשופים</a:t>
            </a:r>
            <a:endParaRPr lang="he-IL"/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85EB8B-F344-4648-8F7C-0018F4380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95650"/>
            <a:ext cx="180975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Function Scan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FEA1C5-646D-4ACA-8577-AB097AF89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295650"/>
            <a:ext cx="200025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3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350" b="1" lang="en-US">
                <a:solidFill>
                  <a:srgbClr val="10233F"/>
                </a:solidFill>
                <a:latin typeface="Arial"/>
                <a:ea typeface="Arial"/>
                <a:cs typeface="Arial"/>
              </a:rPr>
              <a:t xml:space="preserve">51 </a:t>
            </a:r>
            <a:r>
              <a:rPr sz="13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שורות</a:t>
            </a:r>
            <a:endParaRPr lang="he-IL"/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923E6F-95D4-46A2-8902-10B6D42E3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29075"/>
            <a:ext cx="108394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7F4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461FC0-1285-40F6-8A90-A4F449016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148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active_members_201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937BF0-9D9B-4E24-8041-29A4E6024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29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EXPLAIN ANALYZE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08633D-A02E-4F13-89EA-3A1972C2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15290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חברים פעילים</a:t>
            </a:r>
            <a:endParaRPr lang="he-IL"/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2481AB-C32A-4197-8591-34E60EC63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62425"/>
            <a:ext cx="180975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Function Scan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73D3342-3EF5-4653-8507-DC2AD787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162425"/>
            <a:ext cx="200025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E5F7F4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350" b="1" lang="he-IL">
                <a:solidFill>
                  <a:srgbClr val="087A5B"/>
                </a:solidFill>
                <a:latin typeface="Arial"/>
                <a:ea typeface="Arial"/>
                <a:cs typeface="Arial"/>
              </a:defRPr>
            </a:pPr>
            <a:r>
              <a:rPr sz="1350" b="1" lang="en-US">
                <a:solidFill>
                  <a:srgbClr val="087A5B"/>
                </a:solidFill>
                <a:latin typeface="Arial"/>
                <a:ea typeface="Arial"/>
                <a:cs typeface="Arial"/>
              </a:rPr>
              <a:t xml:space="preserve">26 </a:t>
            </a:r>
            <a:r>
              <a:rPr sz="1350" b="1" lang="he-IL">
                <a:solidFill>
                  <a:srgbClr val="087A5B"/>
                </a:solidFill>
                <a:latin typeface="Arial"/>
                <a:ea typeface="Arial"/>
                <a:cs typeface="Arial"/>
              </a:rPr>
              <a:t>שורות</a:t>
            </a:r>
            <a:endParaRPr lang="he-IL"/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E0FA6E-6B36-4D8F-83C0-6F590EF18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1530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49CEAD-9F9F-435E-86AE-52CADC998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019675"/>
            <a:ext cx="8591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35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35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הרשימות תחומות בעזרת סמן ואינדקסים; שיטת ההמשך היא </a:t>
            </a:r>
            <a:r>
              <a:rPr sz="1350" b="0" lang="en-US">
                <a:solidFill>
                  <a:srgbClr val="17233A"/>
                </a:solidFill>
                <a:latin typeface="Arial"/>
                <a:ea typeface="Arial"/>
                <a:cs typeface="Arial"/>
              </a:rPr>
              <a:t>Keyset pagination.</a:t>
            </a:r>
            <a:r>
              <a:rPr lang="he-IL"/>
              <a:t>‬</a:t>
            </a:r>
            <a:endParaRPr lang="he-IL"/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F1E531-CC28-4C31-8CFB-DDE690FC4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5149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727DD31-CA2F-46EC-849A-3D4A0963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381625"/>
            <a:ext cx="8591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35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35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הניקוד מחושב בפעולה קבוצתית במסד; הסנכרון מפוצל ומוגבל במכסה.</a:t>
            </a:r>
            <a:endParaRPr lang="he-IL"/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C3450CE-65F2-4B76-8231-289EEC574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8769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D504FA0-9D03-4D07-8B0D-9618D5A67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743575"/>
            <a:ext cx="8591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35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35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הזמנים והשורות למעלה נצפו באותה הרצה מקומית על המועמד הסופי.</a:t>
            </a:r>
            <a:endParaRPr lang="he-IL"/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F2AF07-6208-461B-8F29-00596D09A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34125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1622ED-873C-4E67-8E3F-C77A90ACE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9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· RUNI 2026 · DEMO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A9F9308-734E-478E-86B8-B05C27A1A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89461172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0B5E32-4C9F-413F-8213-F4C32620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39E2B6-2D65-4B56-8678-63A18850A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33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בחירות וסיכונים</a:t>
            </a:r>
            <a:endParaRPr lang="he-IL"/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9418BB-FBCF-442C-8361-C4EA71E0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גבולות אמיתיים עדיפים על הבטחות</a:t>
            </a:r>
            <a:endParaRPr lang="he-IL"/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7EDD4F-C267-4377-87FF-B904708B2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90600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23D169-6C55-4DE8-8D47-3EA1B33B1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381125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2175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2175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בחירות מודעות</a:t>
            </a:r>
            <a:endParaRPr lang="he-IL"/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EB847B-A504-4751-8B59-0C886E01C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20859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B82F73-53B3-4E20-8B4D-DDC4A2861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52625"/>
            <a:ext cx="4781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מונוליט מודולרי; שירות נוסף רק לאחר מדידת צוואר בקבוק.</a:t>
            </a:r>
            <a:endParaRPr lang="he-IL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97A4AD-9992-45C8-8E8A-C798AFBA5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28289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8CA6D3-1A13-45CA-8661-18D53E71C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95575"/>
            <a:ext cx="4781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הכללים האטומיים נשמרים ב־</a:t>
            </a:r>
            <a:r>
              <a:rPr sz="1575" b="0" lang="en-US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PostgreSQL; </a:t>
            </a:r>
            <a:r>
              <a: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חוויית המשתמש נשארת ביישום.</a:t>
            </a:r>
            <a:r>
              <a:rPr lang="he-IL"/>
              <a:t>‬</a:t>
            </a:r>
            <a:endParaRPr lang="he-IL"/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A61796-CF8E-4E73-8DE2-4C213FDD0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5718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492CA8-9126-4663-8B14-496F9E204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438525"/>
            <a:ext cx="4781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מחוץ ל־</a:t>
            </a:r>
            <a:r>
              <a:rPr sz="1575" b="0" lang="en-US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Production </a:t>
            </a:r>
            <a:r>
              <a: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נשאר נתיב </a:t>
            </a:r>
            <a:r>
              <a:rPr sz="1575" b="0" lang="en-US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Manual adapter </a:t>
            </a:r>
            <a:r>
              <a: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עובד ובטוח.</a:t>
            </a:r>
            <a:r>
              <a:rPr lang="he-IL"/>
              <a:t>‬</a:t>
            </a:r>
            <a:endParaRPr lang="he-IL"/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B58138-3762-4BEF-88B0-7B2AEA3C7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2175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2175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סיכונים שנותרו</a:t>
            </a:r>
            <a:endParaRPr lang="he-IL"/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A41CF2-15F1-41E2-842F-45B5C02E3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0859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8A16"/>
          </a:solidFill>
          <a:ln xmlns:a="http://schemas.openxmlformats.org/drawingml/2006/main" w="9525">
            <a:solidFill>
              <a:srgbClr val="D48A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1B352F-A3A7-4DA4-897D-F5C75D8D8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952625"/>
            <a:ext cx="4876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מגבלות ספק </a:t>
            </a:r>
            <a:r>
              <a:rPr sz="1575" b="0" lang="en-US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Sports </a:t>
            </a:r>
            <a:r>
              <a: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ואמינות </a:t>
            </a:r>
            <a:r>
              <a:rPr sz="1575" b="0" lang="en-US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SMTP </a:t>
            </a:r>
            <a:r>
              <a: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הן תלויות תשתית חיצונית.</a:t>
            </a:r>
            <a:r>
              <a:rPr lang="he-IL"/>
              <a:t>‬</a:t>
            </a:r>
            <a:endParaRPr lang="he-IL"/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792C62-15A5-454C-8411-275CA36EB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8289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8A16"/>
          </a:solidFill>
          <a:ln xmlns:a="http://schemas.openxmlformats.org/drawingml/2006/main" w="9525">
            <a:solidFill>
              <a:srgbClr val="D48A1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FC9927-8FFF-4D99-800A-E4C9CC768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695575"/>
            <a:ext cx="4876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פעולות </a:t>
            </a:r>
            <a:r>
              <a:rPr sz="1575" b="0" lang="en-US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Hosted </a:t>
            </a:r>
            <a:r>
              <a: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ו־</a:t>
            </a:r>
            <a:r>
              <a:rPr sz="1575" b="0" lang="en-US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Production </a:t>
            </a:r>
            <a:r>
              <a: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דורשות ראיה נפרדת של הבעלים.</a:t>
            </a:r>
            <a:r>
              <a:rPr lang="he-IL"/>
              <a:t>‬</a:t>
            </a:r>
            <a:endParaRPr lang="he-IL"/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544B76-53E9-4E4A-8F66-0F09E12A4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5718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8A16"/>
          </a:solidFill>
          <a:ln xmlns:a="http://schemas.openxmlformats.org/drawingml/2006/main" w="9525">
            <a:solidFill>
              <a:srgbClr val="D48A1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8AE465-3D95-4E88-832F-F99EF1AA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38525"/>
            <a:ext cx="4876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הרחבה תפעולית תיבחן רק מול מדידות עומס אמיתיות.</a:t>
            </a:r>
            <a:endParaRPr lang="he-IL"/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D84112-B3B0-4050-893A-53FE37CA0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29150"/>
            <a:ext cx="105727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4DE"/>
          </a:solidFill>
          <a:ln xmlns:a="http://schemas.openxmlformats.org/drawingml/2006/main" w="9525">
            <a:solidFill>
              <a:srgbClr val="D48A1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29A218-A9AF-489C-8282-EF2C7DDD2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10125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875" b="1" lang="he-IL">
                <a:solidFill>
                  <a:srgbClr val="D48A16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875" b="1" lang="he-IL">
                <a:solidFill>
                  <a:srgbClr val="D48A16"/>
                </a:solidFill>
                <a:latin typeface="Arial"/>
                <a:ea typeface="Arial"/>
                <a:cs typeface="Arial"/>
              </a:rPr>
              <a:t xml:space="preserve">מצב </a:t>
            </a:r>
            <a:r>
              <a:rPr sz="1875" b="1" lang="en-US">
                <a:solidFill>
                  <a:srgbClr val="D48A16"/>
                </a:solidFill>
                <a:latin typeface="Arial"/>
                <a:ea typeface="Arial"/>
                <a:cs typeface="Arial"/>
              </a:rPr>
              <a:t xml:space="preserve">Demo </a:t>
            </a:r>
            <a:r>
              <a:rPr sz="1875" b="1" lang="he-IL">
                <a:solidFill>
                  <a:srgbClr val="D48A16"/>
                </a:solidFill>
                <a:latin typeface="Arial"/>
                <a:ea typeface="Arial"/>
                <a:cs typeface="Arial"/>
              </a:rPr>
              <a:t xml:space="preserve">בלבד · אין גבייה או כסף אמיתי · אין </a:t>
            </a:r>
            <a:r>
              <a:rPr sz="1875" b="1" lang="en-US">
                <a:solidFill>
                  <a:srgbClr val="D48A16"/>
                </a:solidFill>
                <a:latin typeface="Arial"/>
                <a:ea typeface="Arial"/>
                <a:cs typeface="Arial"/>
              </a:rPr>
              <a:t xml:space="preserve">generative AI </a:t>
            </a:r>
            <a:r>
              <a:rPr sz="1875" b="1" lang="he-IL">
                <a:solidFill>
                  <a:srgbClr val="D48A16"/>
                </a:solidFill>
                <a:latin typeface="Arial"/>
                <a:ea typeface="Arial"/>
                <a:cs typeface="Arial"/>
              </a:rPr>
              <a:t>בזמן ריצה</a:t>
            </a:r>
            <a:r>
              <a:rPr lang="he-IL"/>
              <a:t>‬</a:t>
            </a:r>
            <a:endParaRPr lang="he-IL"/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F38F29-8D37-43F0-8CAC-767049977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387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425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425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מחוץ לסביבת הייצור אין פרטי גישה לספק ואין פנייה בזמן אמת לספק נתוני ספורט.</a:t>
            </a:r>
            <a:endParaRPr lang="he-IL"/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11E4DF-2AD8-43E1-81BB-4CD6E6E41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435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F75CC"/>
                </a:solidFill>
                <a:latin typeface="Arial"/>
                <a:ea typeface="Arial"/>
                <a:cs typeface="Arial"/>
              </a:rPr>
              <a:t>Local · Preview · CI: Manual adapter · recorded fixtures · fake transport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161224-D1E6-4B0A-8BCE-EEA392B22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34125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14A342-7BA7-41C0-83DE-7AE4780B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9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· RUNI 2026 · DEMO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543F0C-1D38-48A4-8116-93FB0FEA8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332012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436CB5-34BE-4004-80CC-89EC6C8AA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D51868-D266-40CF-8EDA-71D177740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33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סיכום והמשך</a:t>
            </a:r>
            <a:endParaRPr lang="he-IL"/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20295A-E540-4BFF-8635-7201CF724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ה־</a:t>
            </a:r>
            <a:r>
              <a:rPr sz="3150" b="1" lang="en-US">
                <a:solidFill>
                  <a:srgbClr val="10233F"/>
                </a:solidFill>
                <a:latin typeface="Arial"/>
                <a:ea typeface="Arial"/>
                <a:cs typeface="Arial"/>
              </a:rPr>
              <a:t xml:space="preserve">MVP </a:t>
            </a:r>
            <a:r>
              <a: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הושלם; העתיד נשאר מחוץ לגבול</a:t>
            </a:r>
            <a:r>
              <a:rPr lang="he-IL"/>
              <a:t>‬</a:t>
            </a:r>
            <a:endParaRPr lang="he-IL"/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7AD220-71D5-43B1-8036-8B016B2DF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90600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C76D8F-B8DD-4035-8551-40CE2A9FA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381125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22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22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מימוש ה־</a:t>
            </a:r>
            <a:r>
              <a:rPr sz="2250" b="1" lang="en-US">
                <a:solidFill>
                  <a:srgbClr val="10233F"/>
                </a:solidFill>
                <a:latin typeface="Arial"/>
                <a:ea typeface="Arial"/>
                <a:cs typeface="Arial"/>
              </a:rPr>
              <a:t>MVP</a:t>
            </a:r>
            <a:r>
              <a:rPr lang="he-IL"/>
              <a:t>‬</a:t>
            </a:r>
            <a:endParaRPr lang="he-IL"/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CEAAEC-726C-4BBF-8F4B-FDA4A6C1C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20859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7D15E4-9916-4F86-8585-17E73EC7D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52625"/>
            <a:ext cx="47815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הצטרפות, ניחוש, דירוג והשלמה — מחזור מלא.</a:t>
            </a:r>
            <a:endParaRPr lang="he-IL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E44373-2E35-452D-8C91-6550D96D0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27336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11D676-2EBD-43AF-82DE-2FEA6747F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00325"/>
            <a:ext cx="47815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תיקון מאוחר נשאר פרטי, מפורש, מנוהל בגרסאות ומתועד.</a:t>
            </a:r>
            <a:endParaRPr lang="he-IL"/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27D799-565A-406E-8EE0-5B6DDA231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3813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7372D1-6B08-4342-8199-9B6108CA3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48025"/>
            <a:ext cx="47815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אפשר להסביר מי הורשה, מתי ננעל ואיך נשמר הדירוג הסופי.</a:t>
            </a:r>
            <a:endParaRPr lang="he-IL"/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57790E-8B52-4D71-8C29-825AF482B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22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22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המשך אפשרי</a:t>
            </a:r>
            <a:endParaRPr lang="he-IL"/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1FFAF4-F152-4F90-8BD5-5CE61BE38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0859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8A16"/>
          </a:solidFill>
          <a:ln xmlns:a="http://schemas.openxmlformats.org/drawingml/2006/main" w="9525">
            <a:solidFill>
              <a:srgbClr val="D48A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4CF174-EC5E-45E2-843A-D519C584F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952625"/>
            <a:ext cx="4876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מפרידים רכיב רק אחרי שנמדד צוואר בקבוק אמיתי.</a:t>
            </a:r>
            <a:endParaRPr lang="he-IL"/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4DC180-9D03-4A28-8525-6F78E07A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7336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8A16"/>
          </a:solidFill>
          <a:ln xmlns:a="http://schemas.openxmlformats.org/drawingml/2006/main" w="9525">
            <a:solidFill>
              <a:srgbClr val="D48A1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E97DF1-FA91-43ED-8229-11D40FA5B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600325"/>
            <a:ext cx="4876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כסף אמיתי — רק אחרי שער משפטי, פרטיות וגיל.</a:t>
            </a:r>
            <a:endParaRPr lang="he-IL"/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483A89-8337-4407-8A60-410B63698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3813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8A16"/>
          </a:solidFill>
          <a:ln xmlns:a="http://schemas.openxmlformats.org/drawingml/2006/main" w="9525">
            <a:solidFill>
              <a:srgbClr val="D48A1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B69C5E-EE90-4202-8ECB-6CB27826A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248025"/>
            <a:ext cx="4876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מאשרים </a:t>
            </a:r>
            <a:r>
              <a:rPr sz="1650" b="0" lang="en-US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generative AI </a:t>
            </a:r>
            <a:r>
              <a: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רק לאחר שינוי היקף מאושר.</a:t>
            </a:r>
            <a:r>
              <a:rPr lang="he-IL"/>
              <a:t>‬</a:t>
            </a:r>
            <a:endParaRPr lang="he-IL"/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30E87D-89DD-4921-8484-BED4195CB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33875"/>
            <a:ext cx="10858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FF8787-CDB1-48E3-8F1A-E135D9DEE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714875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875" b="1" lang="he-IL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875" b="1" lang="he-IL">
                <a:solidFill>
                  <a:srgbClr val="1F75CC"/>
                </a:solidFill>
                <a:latin typeface="Arial"/>
                <a:ea typeface="Arial"/>
                <a:cs typeface="Arial"/>
                <a:hlinkClick xmlns:r="http://schemas.openxmlformats.org/officeDocument/2006/relationships" r:id="rId2"/>
              </a:rPr>
              <a:t>פתיחת האתר הציבורי</a:t>
            </a:r>
            <a:endParaRPr lang="he-IL"/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1B771C-4AC0-4B3B-861A-49EB0CB6D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14875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875" b="1" lang="he-IL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875" b="1" lang="he-IL">
                <a:solidFill>
                  <a:srgbClr val="1F75CC"/>
                </a:solidFill>
                <a:latin typeface="Arial"/>
                <a:ea typeface="Arial"/>
                <a:cs typeface="Arial"/>
                <a:hlinkClick xmlns:r="http://schemas.openxmlformats.org/officeDocument/2006/relationships" r:id="rId3"/>
              </a:rPr>
              <a:t>פתיחת מאגר הקוד</a:t>
            </a:r>
            <a:endParaRPr lang="he-IL"/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866D0C-9C1D-4874-8AD4-0AC9D6EEB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48300"/>
            <a:ext cx="904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22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22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 xml:space="preserve">כך </a:t>
            </a:r>
            <a:r>
              <a:rPr sz="2250" b="1" lang="en-US">
                <a:solidFill>
                  <a:srgbClr val="10233F"/>
                </a:solidFill>
                <a:latin typeface="Arial"/>
                <a:ea typeface="Arial"/>
                <a:cs typeface="Arial"/>
              </a:rPr>
              <a:t xml:space="preserve">Predictor1 </a:t>
            </a:r>
            <a:r>
              <a:rPr sz="22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הופך כללי ליגה פרטית להסכמות שאפשר לבדוק.</a:t>
            </a:r>
            <a:r>
              <a:rPr lang="he-IL"/>
              <a:t>‬</a:t>
            </a:r>
            <a:endParaRPr lang="he-IL"/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70ED58-014E-4E25-8460-7C124DB55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34125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C141B3-5FBC-4ED9-87D9-9C283331F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9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· RUNI 2026 · DEMO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90A11D-EC7C-4A1B-874A-201840712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4276526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2026-08-27T00:00:00Z</dcterms:created>
  <dcterms:modified xsi:type="dcterms:W3CDTF">2026-08-27T00:00:00Z</dcterms:modified>
</coreProperties>
</file>