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e5432f8a394a75" /><Relationship Type="http://schemas.openxmlformats.org/officeDocument/2006/relationships/extended-properties" Target="/docProps/app.xml" Id="R35cc8778ad7b415f" /><Relationship Type="http://schemas.openxmlformats.org/officeDocument/2006/relationships/officeDocument" Target="/ppt/presentation.xml" Id="R7cb933ddb6d241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de874c3b444e19"/>
  </p:sldMasterIdLst>
  <p:notesMasterIdLst>
    <p:notesMasterId xmlns:r="http://schemas.openxmlformats.org/officeDocument/2006/relationships" r:id="R8b38503e92d448f4"/>
  </p:notesMasterIdLst>
  <p:sldIdLst>
    <p:sldId xmlns:r="http://schemas.openxmlformats.org/officeDocument/2006/relationships" id="256" r:id="Rf72537b1d0404567"/>
    <p:sldId xmlns:r="http://schemas.openxmlformats.org/officeDocument/2006/relationships" id="257" r:id="R80cec7d5ee38436c"/>
    <p:sldId xmlns:r="http://schemas.openxmlformats.org/officeDocument/2006/relationships" id="258" r:id="Rc26d2aa33aab4564"/>
    <p:sldId xmlns:r="http://schemas.openxmlformats.org/officeDocument/2006/relationships" id="259" r:id="R94b713f326364134"/>
    <p:sldId xmlns:r="http://schemas.openxmlformats.org/officeDocument/2006/relationships" id="260" r:id="R039bfce4fc5540dc"/>
    <p:sldId xmlns:r="http://schemas.openxmlformats.org/officeDocument/2006/relationships" id="261" r:id="R2b6c6ab3192a4964"/>
    <p:sldId xmlns:r="http://schemas.openxmlformats.org/officeDocument/2006/relationships" id="262" r:id="Rbd854a5b43d64779"/>
    <p:sldId xmlns:r="http://schemas.openxmlformats.org/officeDocument/2006/relationships" id="263" r:id="Re2fdd08759774ec8"/>
    <p:sldId xmlns:r="http://schemas.openxmlformats.org/officeDocument/2006/relationships" id="264" r:id="R0b772c02b9c147f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30dd48f8724197" /><Relationship Type="http://schemas.openxmlformats.org/officeDocument/2006/relationships/slideMaster" Target="/ppt/slideMasters/slideMaster1.xml" Id="Rabde874c3b444e19" /><Relationship Type="http://schemas.openxmlformats.org/officeDocument/2006/relationships/notesMaster" Target="/ppt/notesMasters/notesMaster1.xml" Id="R8b38503e92d448f4" /><Relationship Type="http://schemas.openxmlformats.org/officeDocument/2006/relationships/presProps" Target="/ppt/presProps.xml" Id="Rfc79e294d8f74bc9" /><Relationship Type="http://schemas.openxmlformats.org/officeDocument/2006/relationships/tableStyles" Target="/ppt/tableStyles.xml" Id="Rce205a7ac0c142e4" /><Relationship Type="http://schemas.openxmlformats.org/officeDocument/2006/relationships/slide" Target="/ppt/slides/slide1.xml" Id="Rf72537b1d0404567" /><Relationship Type="http://schemas.openxmlformats.org/officeDocument/2006/relationships/slide" Target="/ppt/slides/slide2.xml" Id="R80cec7d5ee38436c" /><Relationship Type="http://schemas.openxmlformats.org/officeDocument/2006/relationships/slide" Target="/ppt/slides/slide3.xml" Id="Rc26d2aa33aab4564" /><Relationship Type="http://schemas.openxmlformats.org/officeDocument/2006/relationships/slide" Target="/ppt/slides/slide4.xml" Id="R94b713f326364134" /><Relationship Type="http://schemas.openxmlformats.org/officeDocument/2006/relationships/slide" Target="/ppt/slides/slide5.xml" Id="R039bfce4fc5540dc" /><Relationship Type="http://schemas.openxmlformats.org/officeDocument/2006/relationships/slide" Target="/ppt/slides/slide6.xml" Id="R2b6c6ab3192a4964" /><Relationship Type="http://schemas.openxmlformats.org/officeDocument/2006/relationships/slide" Target="/ppt/slides/slide7.xml" Id="Rbd854a5b43d64779" /><Relationship Type="http://schemas.openxmlformats.org/officeDocument/2006/relationships/slide" Target="/ppt/slides/slide8.xml" Id="Re2fdd08759774ec8" /><Relationship Type="http://schemas.openxmlformats.org/officeDocument/2006/relationships/slide" Target="/ppt/slides/slide9.xml" Id="R0b772c02b9c147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a58f3ddddd45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b4f152643746f0" /><Relationship Type="http://schemas.openxmlformats.org/officeDocument/2006/relationships/notesMaster" Target="/ppt/notesMasters/notesMaster1.xml" Id="R66479fee7b1d45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4396b69207466a" /><Relationship Type="http://schemas.openxmlformats.org/officeDocument/2006/relationships/notesMaster" Target="/ppt/notesMasters/notesMaster1.xml" Id="R681959a2423d44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3db7b274544285" /><Relationship Type="http://schemas.openxmlformats.org/officeDocument/2006/relationships/notesMaster" Target="/ppt/notesMasters/notesMaster1.xml" Id="Ra3fd6c9dbaa24b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08bc8f26984953" /><Relationship Type="http://schemas.openxmlformats.org/officeDocument/2006/relationships/notesMaster" Target="/ppt/notesMasters/notesMaster1.xml" Id="R72f9f6f667d440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5a38af799d4fca" /><Relationship Type="http://schemas.openxmlformats.org/officeDocument/2006/relationships/notesMaster" Target="/ppt/notesMasters/notesMaster1.xml" Id="R66efc9bdb6c844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7cb8342f84bfa" /><Relationship Type="http://schemas.openxmlformats.org/officeDocument/2006/relationships/notesMaster" Target="/ppt/notesMasters/notesMaster1.xml" Id="Rc0d8b099d69141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945ee4799647c7" /><Relationship Type="http://schemas.openxmlformats.org/officeDocument/2006/relationships/notesMaster" Target="/ppt/notesMasters/notesMaster1.xml" Id="R0555471d4deb4e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a472a744db4255" /><Relationship Type="http://schemas.openxmlformats.org/officeDocument/2006/relationships/notesMaster" Target="/ppt/notesMasters/notesMaster1.xml" Id="Re7b0073a99e845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2921dbf4934c57" /><Relationship Type="http://schemas.openxmlformats.org/officeDocument/2006/relationships/notesMaster" Target="/ppt/notesMasters/notesMaster1.xml" Id="Rc0c01becbddd4d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00:00–00:35</a:t>
            </a:r>
          </a:p>
          <a:p xmlns:a="http://schemas.openxmlformats.org/drawingml/2006/main">
            <a:r>
              <a:t>פתיחה: Predictor1 אינו רק טופס ניחושים. הוא מחבר קבוצה פרטית, נעילה לפי זמן מסד, ניקוד דטרמיניסטי ומצב סופי שניתן להסביר ולבקר.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docs/product.md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00:35–01:40</a:t>
            </a:r>
          </a:p>
          <a:p xmlns:a="http://schemas.openxmlformats.org/drawingml/2006/main">
            <a:r>
              <a:t>להסביר את הבעיה דרך אמון: חברות, deadline, תיקון והוגנות. להדגיש שהפריסה הציבורית אינה מערכת פיננסית; תמונת ההוכחה היא Demo סינתטי בלבד.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01:40–03:20</a:t>
            </a:r>
          </a:p>
          <a:p xmlns:a="http://schemas.openxmlformats.org/drawingml/2006/main">
            <a:r>
              <a:t>לעבור בקצרה על המסלול, ואז לבצע אותו במוצר אם הסביבה זמינה. במקרה outage לפתוח את 01-open-league.png ולהמשיך לפי demo-script.md; אין לחשוף invite fragment או credential.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e2e/lifecycle.spec.ts</a:t>
            </a:r>
          </a:p>
          <a:p xmlns:a="http://schemas.openxmlformats.org/drawingml/2006/main">
            <a:r>
              <a:t>- presentation/fallback/01-open-league.png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03:20–04:45</a:t>
            </a:r>
          </a:p>
          <a:p xmlns:a="http://schemas.openxmlformats.org/drawingml/2006/main">
            <a:r>
              <a:t>להסביר את גבולות האחריות: ה־UI וה־HTTP ב־Next.js, אבל kickoff, authorization defense-in-depth, atomicity וניקוד נמצאים ב־PostgreSQL/RLS/RPC. src/proxy.ts אינו authorization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docs/technical-plan.md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04:45–06:15</a:t>
            </a:r>
          </a:p>
          <a:p xmlns:a="http://schemas.openxmlformats.org/drawingml/2006/main">
            <a:r>
              <a:t>להציג negative-path אחד: משתמש מליגה אחרת אינו רואה resource גם אם הוא מנחש URL. להסביר ש־secret client תחום ל־gateway ולמודולי system בלבד, והוכחות אינן public Storage objects.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06:15–08:00</a:t>
            </a:r>
          </a:p>
          <a:p xmlns:a="http://schemas.openxmlformats.org/drawingml/2006/main">
            <a:r>
              <a:t>בדמו: להזין תוצאה, להציג דירוג נוכחי, להשלים ליגה ולהציג דירוג סופי. לאחר מכן להסביר שתיקון מאוחר נרשם ל־review ואינו משנה completed league אוטומטית. ב־outage לפתוח את 03-completed-final-report.png.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e2e/lifecycle.spec.ts</a:t>
            </a:r>
          </a:p>
          <a:p xmlns:a="http://schemas.openxmlformats.org/drawingml/2006/main">
            <a:r>
              <a:t>- presentation/fallback/03-completed-final-report.png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08:00–09:10</a:t>
            </a:r>
          </a:p>
          <a:p xmlns:a="http://schemas.openxmlformats.org/drawingml/2006/main">
            <a:r>
              <a:t>להסביר מה כל שכבה תופסת: Vitest לכללים וגבולות, pgTAP ל־RLS/constraints/atomicity, Playwright לזרימות ול־cross-user denial. המספרים הם observed evidence ולא תחזית.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docs/slice-9-delivery-ledger.md</a:t>
            </a:r>
          </a:p>
          <a:p xmlns:a="http://schemas.openxmlformats.org/drawingml/2006/main">
            <a:r>
              <a:t>- docs/testing.md</a:t>
            </a:r>
          </a:p>
          <a:p xmlns:a="http://schemas.openxmlformats.org/drawingml/2006/main">
            <a:r>
              <a:t>- docs/evidence/slice-9/w7/S9-DEF-013.md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09:10–10:30</a:t>
            </a:r>
          </a:p>
          <a:p xmlns:a="http://schemas.openxmlformats.org/drawingml/2006/main">
            <a:r>
              <a:t>להציג את tradeoff: אין microservice/queue/cache כי היעד הנוכחי אינו מצדיק אותם. ה־Manual adapter הוא graceful degradation, לא מצב בדיקה בלבד. עתיד אינו הבטחה ואינו נכנס להגשה בלי scope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docs/scale.md</a:t>
            </a:r>
          </a:p>
          <a:p xmlns:a="http://schemas.openxmlformats.org/drawingml/2006/main">
            <a:r>
              <a:t>- docs/product.md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10:30–11:30, ואז שאלות</a:t>
            </a:r>
          </a:p>
          <a:p xmlns:a="http://schemas.openxmlformats.org/drawingml/2006/main">
            <a:r>
              <a:t>לסגור באותה שאלה מהפתיחה: האם אפשר לסמוך על הליגה? כן, משום שה־lifecycle, ההרשאה, הזמן והמצב הסופי נאכפים בגבולות שניתנים לבדיקה. לפתוח את Production או לעבור לשאלות.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docs/deployment.md</a:t>
            </a:r>
          </a:p>
          <a:p xmlns:a="http://schemas.openxmlformats.org/drawingml/2006/main">
            <a:r>
              <a:t>- presentation/demo-script.md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eec336aaaf45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c72ee7f624444b" /><Relationship Type="http://schemas.openxmlformats.org/officeDocument/2006/relationships/slideLayout" Target="/ppt/slideLayouts/slideLayout1.xml" Id="R20abd19373cc40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abd19373cc40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3ba649e1742d4" /><Relationship Type="http://schemas.openxmlformats.org/officeDocument/2006/relationships/notesSlide" Target="/ppt/notesSlides/notesSlide1.xml" Id="R5ee677c5d62840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0a99cc32b546f4" /><Relationship Type="http://schemas.openxmlformats.org/officeDocument/2006/relationships/notesSlide" Target="/ppt/notesSlides/notesSlide2.xml" Id="Rf092fe0f192d43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44d2656bc4b8d" /><Relationship Type="http://schemas.openxmlformats.org/officeDocument/2006/relationships/image" Target="/ppt/media/image.png" Id="Rc6396e9a1adb4f08" /><Relationship Type="http://schemas.openxmlformats.org/officeDocument/2006/relationships/notesSlide" Target="/ppt/notesSlides/notesSlide3.xml" Id="Ra8ca153841d74e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fd9f571084859" /><Relationship Type="http://schemas.openxmlformats.org/officeDocument/2006/relationships/notesSlide" Target="/ppt/notesSlides/notesSlide4.xml" Id="Rb3ed575758a444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6452568d6423e" /><Relationship Type="http://schemas.openxmlformats.org/officeDocument/2006/relationships/notesSlide" Target="/ppt/notesSlides/notesSlide5.xml" Id="Rddf466de294842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40b8b42014c2e" /><Relationship Type="http://schemas.openxmlformats.org/officeDocument/2006/relationships/image" Target="/ppt/media/image2.png" Id="R99712325b3da404a" /><Relationship Type="http://schemas.openxmlformats.org/officeDocument/2006/relationships/notesSlide" Target="/ppt/notesSlides/notesSlide6.xml" Id="R87ff547904584f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66a1e2a9947eb" /><Relationship Type="http://schemas.openxmlformats.org/officeDocument/2006/relationships/notesSlide" Target="/ppt/notesSlides/notesSlide7.xml" Id="Rfa55aa13a5c94d4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64e1f46d441d5" /><Relationship Type="http://schemas.openxmlformats.org/officeDocument/2006/relationships/notesSlide" Target="/ppt/notesSlides/notesSlide8.xml" Id="R0ec33a651e5742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ae9aa6ada4b31" /><Relationship Type="http://schemas.openxmlformats.org/officeDocument/2006/relationships/hyperlink" Target="https://predictor-swart.vercel.app/" TargetMode="External" Id="R46a5e2486ec34c56" /><Relationship Type="http://schemas.openxmlformats.org/officeDocument/2006/relationships/hyperlink" Target="https://github.com/talzantkeren/predictor" TargetMode="External" Id="R3328295366334335" /><Relationship Type="http://schemas.openxmlformats.org/officeDocument/2006/relationships/notesSlide" Target="/ppt/notesSlides/notesSlide9.xml" Id="R9cd1e98eb4c846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7E56514-963C-461D-AD5F-755F5E09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RUNI  •  Internet Technologies 2026</a:t>
            </a:r>
          </a:p>
        </p:txBody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6F15FE6D-3EC6-4CF8-9E31-E063C988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Predictor1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B568328-4844-4F24-979E-59190F53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48000"/>
            <a:ext cx="8153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סופי. שנשאר סופי דירוג הוגן. חיזוי פרטית. ליגה</a:t>
            </a:r>
          </a:p>
        </p:txBody>
      </p:sp>
      <p:sp>
        <p:nvSpPr>
          <p:cNvPr id="4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D6DE87B2-54B7-40F0-A404-6BAF6ACB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6EEA11D-F475-495F-B857-087C444B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81550"/>
            <a:ext cx="7772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בלבד Demo — מלא חיים מחזור לניהול ו־RTL עברי Web יישום</a:t>
            </a:r>
          </a:p>
        </p:txBody>
      </p:sp>
      <p:sp>
        <p:nvSpPr>
          <p:cNvPr id="6" name="slide-1-footer-label">
            <a:extLst xmlns:a="http://schemas.openxmlformats.org/drawingml/2006/main">
              <a:ext uri="{FF2B5EF4-FFF2-40B4-BE49-F238E27FC236}">
                <a16:creationId xmlns:a16="http://schemas.microsoft.com/office/drawing/2014/main" id="{58291438-9B85-4D28-B61A-FEA7C886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7" name="slide-1-footer-number">
            <a:extLst xmlns:a="http://schemas.openxmlformats.org/drawingml/2006/main">
              <a:ext uri="{FF2B5EF4-FFF2-40B4-BE49-F238E27FC236}">
                <a16:creationId xmlns:a16="http://schemas.microsoft.com/office/drawing/2014/main" id="{8F98348C-EC0E-4D18-B63E-F91A26E5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77866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CA648B3C-55F0-4A17-92DE-951F71F6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ניחושים טבלת בעוד לא — החברים בין באמון נמצא הערך</a:t>
            </a:r>
          </a:p>
        </p:txBody>
      </p:sp>
      <p:sp>
        <p:nvSpPr>
          <p:cNvPr id="2" name="slide-2-rule">
            <a:extLst xmlns:a="http://schemas.openxmlformats.org/drawingml/2006/main">
              <a:ext uri="{FF2B5EF4-FFF2-40B4-BE49-F238E27FC236}">
                <a16:creationId xmlns:a16="http://schemas.microsoft.com/office/drawing/2014/main" id="{BED97180-BDA5-43D2-904E-5C03A6F4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roblem-heading">
            <a:extLst xmlns:a="http://schemas.openxmlformats.org/drawingml/2006/main">
              <a:ext uri="{FF2B5EF4-FFF2-40B4-BE49-F238E27FC236}">
                <a16:creationId xmlns:a16="http://schemas.microsoft.com/office/drawing/2014/main" id="{C112DD4F-43E6-4D09-A5B7-B5532243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954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1">
                <a:solidFill>
                  <a:srgbClr val="B26A0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26A00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4" name="problem-list">
            <a:extLst xmlns:a="http://schemas.openxmlformats.org/drawingml/2006/main">
              <a:ext uri="{FF2B5EF4-FFF2-40B4-BE49-F238E27FC236}">
                <a16:creationId xmlns:a16="http://schemas.microsoft.com/office/drawing/2014/main" id="{188F4201-4B35-40EB-8E53-63D0E0FA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66950"/>
            <a:ext cx="5334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ומתי? להצטרף רשאי מי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נחשף? הוא ומתי ננעל ניחוש מתי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היסטוריה? לשכתב בלי תוצאה מתקנים איך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אמיתי? שוויון כשיש מקום חולקים איך •</a:t>
            </a:r>
          </a:p>
        </p:txBody>
      </p:sp>
      <p:sp>
        <p:nvSpPr>
          <p:cNvPr id="5" name="answer-heading">
            <a:extLst xmlns:a="http://schemas.openxmlformats.org/drawingml/2006/main">
              <a:ext uri="{FF2B5EF4-FFF2-40B4-BE49-F238E27FC236}">
                <a16:creationId xmlns:a16="http://schemas.microsoft.com/office/drawing/2014/main" id="{6870FE82-6801-4C4F-B15D-49D9563C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1">
                <a:solidFill>
                  <a:srgbClr val="0B8A6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8A61"/>
                </a:solidFill>
                <a:latin typeface="Arial"/>
                <a:ea typeface="Arial"/>
                <a:cs typeface="Arial"/>
              </a:rPr>
              <a:t>Predictor1 של התשובה</a:t>
            </a:r>
          </a:p>
        </p:txBody>
      </p:sp>
      <p:sp>
        <p:nvSpPr>
          <p:cNvPr id="6" name="answer-list">
            <a:extLst xmlns:a="http://schemas.openxmlformats.org/drawingml/2006/main">
              <a:ext uri="{FF2B5EF4-FFF2-40B4-BE49-F238E27FC236}">
                <a16:creationId xmlns:a16="http://schemas.microsoft.com/office/drawing/2014/main" id="{DD047EB7-A522-49C6-A993-C135796D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מבוקרת הצטרפות ובקשת פרטית הזמנה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הדפדפן לפי לא PostgreSQL, זמן לפי נעילה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3/1/0 לפי דטרמיניסטי overwrite ניקוד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7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מפורש ו־reconciliation סופי snapshot •</a:t>
            </a:r>
          </a:p>
        </p:txBody>
      </p:sp>
      <p:sp>
        <p:nvSpPr>
          <p:cNvPr id="7" name="demo-boundary">
            <a:extLst xmlns:a="http://schemas.openxmlformats.org/drawingml/2006/main">
              <a:ext uri="{FF2B5EF4-FFF2-40B4-BE49-F238E27FC236}">
                <a16:creationId xmlns:a16="http://schemas.microsoft.com/office/drawing/2014/main" id="{AB5A7C90-3316-4043-9117-59B999FE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emo-boundary-copy">
            <a:extLst xmlns:a="http://schemas.openxmlformats.org/drawingml/2006/main">
              <a:ext uri="{FF2B5EF4-FFF2-40B4-BE49-F238E27FC236}">
                <a16:creationId xmlns:a16="http://schemas.microsoft.com/office/drawing/2014/main" id="{D0FCEAEC-930D-41B6-A645-71161213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1059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כספיים. פרסים יכולת או אמיתי כספי מסמך כסף, גביית אין מוצר: גבול</a:t>
            </a:r>
          </a:p>
        </p:txBody>
      </p:sp>
      <p:sp>
        <p:nvSpPr>
          <p:cNvPr id="9" name="slide-2-footer-label">
            <a:extLst xmlns:a="http://schemas.openxmlformats.org/drawingml/2006/main">
              <a:ext uri="{FF2B5EF4-FFF2-40B4-BE49-F238E27FC236}">
                <a16:creationId xmlns:a16="http://schemas.microsoft.com/office/drawing/2014/main" id="{4B3FB715-4B2C-454D-9D51-3B04B719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10" name="slide-2-footer-number">
            <a:extLst xmlns:a="http://schemas.openxmlformats.org/drawingml/2006/main">
              <a:ext uri="{FF2B5EF4-FFF2-40B4-BE49-F238E27FC236}">
                <a16:creationId xmlns:a16="http://schemas.microsoft.com/office/drawing/2014/main" id="{27854F70-E352-49BA-B64A-CE401A48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077542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6BE34074-40B8-4129-9472-8218688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פעילה ליגה עד פרטית מהזמנה עובר אחד מסלול</a:t>
            </a:r>
          </a:p>
        </p:txBody>
      </p:sp>
      <p:sp>
        <p:nvSpPr>
          <p:cNvPr id="2" name="slide-3-rule">
            <a:extLst xmlns:a="http://schemas.openxmlformats.org/drawingml/2006/main">
              <a:ext uri="{FF2B5EF4-FFF2-40B4-BE49-F238E27FC236}">
                <a16:creationId xmlns:a16="http://schemas.microsoft.com/office/drawing/2014/main" id="{B084F807-9D86-4354-B395-3B0E350E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96e9a1adb4f08"/>
          <a:stretch xmlns:a="http://schemas.openxmlformats.org/drawingml/2006/main"/>
        </p:blipFill>
        <p:spPr>
          <a:xfrm xmlns:a="http://schemas.openxmlformats.org/drawingml/2006/main">
            <a:off x="1729117" y="1562100"/>
            <a:ext cx="4466566" cy="4438650"/>
          </a:xfrm>
          <a:prstGeom xmlns:a="http://schemas.openxmlformats.org/drawingml/2006/main" prst="rect">
            <a:avLst/>
          </a:prstGeom>
        </p:spPr>
      </p:pic>
      <p:sp>
        <p:nvSpPr>
          <p:cNvPr id="4" name="lifecycle-intro">
            <a:extLst xmlns:a="http://schemas.openxmlformats.org/drawingml/2006/main">
              <a:ext uri="{FF2B5EF4-FFF2-40B4-BE49-F238E27FC236}">
                <a16:creationId xmlns:a16="http://schemas.microsoft.com/office/drawing/2014/main" id="{9A3CBE48-4ACA-4C37-A3A2-0632EA2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6573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מוצר: פעולות על רק נשען החי הדמו</a:t>
            </a:r>
          </a:p>
        </p:txBody>
      </p:sp>
      <p:sp>
        <p:nvSpPr>
          <p:cNvPr id="5" name="lifecycle-steps">
            <a:extLst xmlns:a="http://schemas.openxmlformats.org/drawingml/2006/main">
              <a:ext uri="{FF2B5EF4-FFF2-40B4-BE49-F238E27FC236}">
                <a16:creationId xmlns:a16="http://schemas.microsoft.com/office/drawing/2014/main" id="{8DF3D29A-4BFB-4F63-BE9A-1CF87158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81250"/>
            <a:ext cx="390525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ליגה יוצר/ת מנהל/ת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Demo תמונת → בקשה → הזמנה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פעילה חברות יוצר אישור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מוקדמת ידנית הפעלה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kickoff עד נשמר ניחוש •</a:t>
            </a:r>
          </a:p>
        </p:txBody>
      </p:sp>
      <p:sp>
        <p:nvSpPr>
          <p:cNvPr id="6" name="lifecycle-proof">
            <a:extLst xmlns:a="http://schemas.openxmlformats.org/drawingml/2006/main">
              <a:ext uri="{FF2B5EF4-FFF2-40B4-BE49-F238E27FC236}">
                <a16:creationId xmlns:a16="http://schemas.microsoft.com/office/drawing/2014/main" id="{266C9940-D703-4872-AA3F-D7311F3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295900"/>
            <a:ext cx="3905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למשתמש. נראה מצב שמזייפת DB כתיבת ללא צעדים אותם את מבצע ה־E2E</a:t>
            </a:r>
          </a:p>
        </p:txBody>
      </p:sp>
      <p:sp>
        <p:nvSpPr>
          <p:cNvPr id="7" name="slide-3-footer-label">
            <a:extLst xmlns:a="http://schemas.openxmlformats.org/drawingml/2006/main">
              <a:ext uri="{FF2B5EF4-FFF2-40B4-BE49-F238E27FC236}">
                <a16:creationId xmlns:a16="http://schemas.microsoft.com/office/drawing/2014/main" id="{B66D0CA8-EB69-4CF1-ACCD-E618646F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8" name="slide-3-footer-number">
            <a:extLst xmlns:a="http://schemas.openxmlformats.org/drawingml/2006/main">
              <a:ext uri="{FF2B5EF4-FFF2-40B4-BE49-F238E27FC236}">
                <a16:creationId xmlns:a16="http://schemas.microsoft.com/office/drawing/2014/main" id="{C4E0B6E6-DD90-4269-BBE3-44A715C7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037072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B38A958-F0CE-4EFD-96F7-9B1B51FE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היישום את מרכז Next.js במסד; נשמרים החוקים</a:t>
            </a:r>
          </a:p>
        </p:txBody>
      </p:sp>
      <p:sp>
        <p:nvSpPr>
          <p:cNvPr id="2" name="slide-4-rule">
            <a:extLst xmlns:a="http://schemas.openxmlformats.org/drawingml/2006/main">
              <a:ext uri="{FF2B5EF4-FFF2-40B4-BE49-F238E27FC236}">
                <a16:creationId xmlns:a16="http://schemas.microsoft.com/office/drawing/2014/main" id="{A2D35950-2311-4092-B5B0-0DAD6050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arrow-1">
            <a:extLst xmlns:a="http://schemas.openxmlformats.org/drawingml/2006/main">
              <a:ext uri="{FF2B5EF4-FFF2-40B4-BE49-F238E27FC236}">
                <a16:creationId xmlns:a16="http://schemas.microsoft.com/office/drawing/2014/main" id="{904223F7-37C7-468C-A0AC-704AADFB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813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4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4" name="arrow-2">
            <a:extLst xmlns:a="http://schemas.openxmlformats.org/drawingml/2006/main">
              <a:ext uri="{FF2B5EF4-FFF2-40B4-BE49-F238E27FC236}">
                <a16:creationId xmlns:a16="http://schemas.microsoft.com/office/drawing/2014/main" id="{F0F8176A-2B37-4BE5-ACD1-D54635D1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8130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4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←</a:t>
            </a:r>
          </a:p>
        </p:txBody>
      </p:sp>
      <p:sp>
        <p:nvSpPr>
          <p:cNvPr id="5" name="browser-node">
            <a:extLst xmlns:a="http://schemas.openxmlformats.org/drawingml/2006/main">
              <a:ext uri="{FF2B5EF4-FFF2-40B4-BE49-F238E27FC236}">
                <a16:creationId xmlns:a16="http://schemas.microsoft.com/office/drawing/2014/main" id="{5A8B04F4-DFBC-4718-A7B8-DFF289F0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30099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DF"/>
            </a:solidFill>
            <a:prstDash val="solid"/>
          </a:ln>
        </p:spPr>
      </p:sp>
      <p:sp>
        <p:nvSpPr>
          <p:cNvPr id="6" name="browser-title">
            <a:extLst xmlns:a="http://schemas.openxmlformats.org/drawingml/2006/main">
              <a:ext uri="{FF2B5EF4-FFF2-40B4-BE49-F238E27FC236}">
                <a16:creationId xmlns:a16="http://schemas.microsoft.com/office/drawing/2014/main" id="{76F137A5-8E65-40DF-BFE4-40B4FE6A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243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7" name="browser-copy">
            <a:extLst xmlns:a="http://schemas.openxmlformats.org/drawingml/2006/main">
              <a:ext uri="{FF2B5EF4-FFF2-40B4-BE49-F238E27FC236}">
                <a16:creationId xmlns:a16="http://schemas.microsoft.com/office/drawing/2014/main" id="{2B13A11C-5D0B-4744-894C-1CD6A400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95600"/>
            <a:ext cx="24384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RTL UI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Server Components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Client boundary קטן</a:t>
            </a:r>
          </a:p>
        </p:txBody>
      </p:sp>
      <p:sp>
        <p:nvSpPr>
          <p:cNvPr id="8" name="next-node">
            <a:extLst xmlns:a="http://schemas.openxmlformats.org/drawingml/2006/main">
              <a:ext uri="{FF2B5EF4-FFF2-40B4-BE49-F238E27FC236}">
                <a16:creationId xmlns:a16="http://schemas.microsoft.com/office/drawing/2014/main" id="{8FB446DB-2583-4EDE-A2E3-F84B1B39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714500"/>
            <a:ext cx="29337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8EC8E8"/>
            </a:solidFill>
            <a:prstDash val="solid"/>
          </a:ln>
        </p:spPr>
      </p:sp>
      <p:sp>
        <p:nvSpPr>
          <p:cNvPr id="9" name="next-title">
            <a:extLst xmlns:a="http://schemas.openxmlformats.org/drawingml/2006/main">
              <a:ext uri="{FF2B5EF4-FFF2-40B4-BE49-F238E27FC236}">
                <a16:creationId xmlns:a16="http://schemas.microsoft.com/office/drawing/2014/main" id="{E23F4861-4206-40D0-B9D7-2D48D520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764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Next.js 16</a:t>
            </a:r>
          </a:p>
        </p:txBody>
      </p:sp>
      <p:sp>
        <p:nvSpPr>
          <p:cNvPr id="10" name="next-copy">
            <a:extLst xmlns:a="http://schemas.openxmlformats.org/drawingml/2006/main">
              <a:ext uri="{FF2B5EF4-FFF2-40B4-BE49-F238E27FC236}">
                <a16:creationId xmlns:a16="http://schemas.microsoft.com/office/drawing/2014/main" id="{BAF07F1B-069E-420F-9249-DDD2A8F6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05100"/>
            <a:ext cx="23622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Server Actions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Route Handlers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services משותפים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src/proxy.ts לרענון session</a:t>
            </a:r>
          </a:p>
        </p:txBody>
      </p:sp>
      <p:sp>
        <p:nvSpPr>
          <p:cNvPr id="11" name="supabase-node">
            <a:extLst xmlns:a="http://schemas.openxmlformats.org/drawingml/2006/main">
              <a:ext uri="{FF2B5EF4-FFF2-40B4-BE49-F238E27FC236}">
                <a16:creationId xmlns:a16="http://schemas.microsoft.com/office/drawing/2014/main" id="{8ADFD394-AF33-4883-A90B-FE684DCA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352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3DF"/>
            </a:solidFill>
            <a:prstDash val="solid"/>
          </a:ln>
        </p:spPr>
      </p:sp>
      <p:sp>
        <p:nvSpPr>
          <p:cNvPr id="12" name="supabase-title">
            <a:extLst xmlns:a="http://schemas.openxmlformats.org/drawingml/2006/main">
              <a:ext uri="{FF2B5EF4-FFF2-40B4-BE49-F238E27FC236}">
                <a16:creationId xmlns:a16="http://schemas.microsoft.com/office/drawing/2014/main" id="{240A0903-93AB-478A-BAF5-55DF8269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Supabase</a:t>
            </a:r>
          </a:p>
        </p:txBody>
      </p:sp>
      <p:sp>
        <p:nvSpPr>
          <p:cNvPr id="13" name="supabase-copy">
            <a:extLst xmlns:a="http://schemas.openxmlformats.org/drawingml/2006/main">
              <a:ext uri="{FF2B5EF4-FFF2-40B4-BE49-F238E27FC236}">
                <a16:creationId xmlns:a16="http://schemas.microsoft.com/office/drawing/2014/main" id="{693EE7C2-5E33-44A3-8161-ACED5040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7813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PostgreSQL + RLS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Auth + Storage פרטי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Cron + RPCs אטומיים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זמן מסד וניקוד</a:t>
            </a:r>
          </a:p>
        </p:txBody>
      </p:sp>
      <p:sp>
        <p:nvSpPr>
          <p:cNvPr id="14" name="vercel-band">
            <a:extLst xmlns:a="http://schemas.openxmlformats.org/drawingml/2006/main">
              <a:ext uri="{FF2B5EF4-FFF2-40B4-BE49-F238E27FC236}">
                <a16:creationId xmlns:a16="http://schemas.microsoft.com/office/drawing/2014/main" id="{DA008F7B-1C5C-4359-A4AB-F92EFA2F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cel-copy">
            <a:extLst xmlns:a="http://schemas.openxmlformats.org/drawingml/2006/main">
              <a:ext uri="{FF2B5EF4-FFF2-40B4-BE49-F238E27FC236}">
                <a16:creationId xmlns:a16="http://schemas.microsoft.com/office/drawing/2014/main" id="{BD48DFB9-2C0C-4328-A0F9-6EF02A54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05400"/>
            <a:ext cx="10401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חיצוני. מטמון או תור נפרד, אחורי שירות אין יחיד; מודולרי יישום מריץ Vercel</a:t>
            </a:r>
          </a:p>
        </p:txBody>
      </p:sp>
      <p:sp>
        <p:nvSpPr>
          <p:cNvPr id="16" name="slide-4-footer-label">
            <a:extLst xmlns:a="http://schemas.openxmlformats.org/drawingml/2006/main">
              <a:ext uri="{FF2B5EF4-FFF2-40B4-BE49-F238E27FC236}">
                <a16:creationId xmlns:a16="http://schemas.microsoft.com/office/drawing/2014/main" id="{582A680C-479B-464D-8D74-CD681D9DB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17" name="slide-4-footer-number">
            <a:extLst xmlns:a="http://schemas.openxmlformats.org/drawingml/2006/main">
              <a:ext uri="{FF2B5EF4-FFF2-40B4-BE49-F238E27FC236}">
                <a16:creationId xmlns:a16="http://schemas.microsoft.com/office/drawing/2014/main" id="{5A4BAE42-DC1C-41A1-A7DB-00E76BCD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44067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D981502-4B97-44A8-95D3-95983768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כפתורים מהסתרת לא כפולים, מגבולות בנויה האבטחה</a:t>
            </a:r>
          </a:p>
        </p:txBody>
      </p:sp>
      <p:sp>
        <p:nvSpPr>
          <p:cNvPr id="2" name="slide-5-rule">
            <a:extLst xmlns:a="http://schemas.openxmlformats.org/drawingml/2006/main">
              <a:ext uri="{FF2B5EF4-FFF2-40B4-BE49-F238E27FC236}">
                <a16:creationId xmlns:a16="http://schemas.microsoft.com/office/drawing/2014/main" id="{E4F078A1-23B3-4600-BA0E-43033FD2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ecurity-rule-0">
            <a:extLst xmlns:a="http://schemas.openxmlformats.org/drawingml/2006/main">
              <a:ext uri="{FF2B5EF4-FFF2-40B4-BE49-F238E27FC236}">
                <a16:creationId xmlns:a16="http://schemas.microsoft.com/office/drawing/2014/main" id="{0EAE4E87-7822-4442-B1AC-48657F3A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573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ecurity-heading-0">
            <a:extLst xmlns:a="http://schemas.openxmlformats.org/drawingml/2006/main">
              <a:ext uri="{FF2B5EF4-FFF2-40B4-BE49-F238E27FC236}">
                <a16:creationId xmlns:a16="http://schemas.microsoft.com/office/drawing/2014/main" id="{7A0A868B-E8A4-4CE1-9F58-D3C5AACD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85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זהות</a:t>
            </a:r>
          </a:p>
        </p:txBody>
      </p:sp>
      <p:sp>
        <p:nvSpPr>
          <p:cNvPr id="5" name="security-body-0">
            <a:extLst xmlns:a="http://schemas.openxmlformats.org/drawingml/2006/main">
              <a:ext uri="{FF2B5EF4-FFF2-40B4-BE49-F238E27FC236}">
                <a16:creationId xmlns:a16="http://schemas.microsoft.com/office/drawing/2014/main" id="{80FB495B-EC74-4630-BD2B-BC538C48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המאומת. מהחיבור נגזרת המשתמש זהות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נדחים. מהטופס ותפקיד זהות שדות</a:t>
            </a:r>
          </a:p>
        </p:txBody>
      </p:sp>
      <p:sp>
        <p:nvSpPr>
          <p:cNvPr id="6" name="security-rule-1">
            <a:extLst xmlns:a="http://schemas.openxmlformats.org/drawingml/2006/main">
              <a:ext uri="{FF2B5EF4-FFF2-40B4-BE49-F238E27FC236}">
                <a16:creationId xmlns:a16="http://schemas.microsoft.com/office/drawing/2014/main" id="{8F4610E5-0FEC-4E96-919F-1EDA672AF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curity-heading-1">
            <a:extLst xmlns:a="http://schemas.openxmlformats.org/drawingml/2006/main">
              <a:ext uri="{FF2B5EF4-FFF2-40B4-BE49-F238E27FC236}">
                <a16:creationId xmlns:a16="http://schemas.microsoft.com/office/drawing/2014/main" id="{30CBBAE8-42F9-41DC-8321-44A112A2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הרשאה</a:t>
            </a:r>
          </a:p>
        </p:txBody>
      </p:sp>
      <p:sp>
        <p:nvSpPr>
          <p:cNvPr id="8" name="security-body-1">
            <a:extLst xmlns:a="http://schemas.openxmlformats.org/drawingml/2006/main">
              <a:ext uri="{FF2B5EF4-FFF2-40B4-BE49-F238E27FC236}">
                <a16:creationId xmlns:a16="http://schemas.microsoft.com/office/drawing/2014/main" id="{0C9F9E3C-5C82-4748-A22C-033DA4B3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בשרת. נבדק משאב כל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הגנה. שכבת מוסיף במסד RLS</a:t>
            </a:r>
          </a:p>
        </p:txBody>
      </p:sp>
      <p:sp>
        <p:nvSpPr>
          <p:cNvPr id="9" name="security-rule-2">
            <a:extLst xmlns:a="http://schemas.openxmlformats.org/drawingml/2006/main">
              <a:ext uri="{FF2B5EF4-FFF2-40B4-BE49-F238E27FC236}">
                <a16:creationId xmlns:a16="http://schemas.microsoft.com/office/drawing/2014/main" id="{7BE23074-83E6-4EBF-B40C-CF8863C6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528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ecurity-heading-2">
            <a:extLst xmlns:a="http://schemas.openxmlformats.org/drawingml/2006/main">
              <a:ext uri="{FF2B5EF4-FFF2-40B4-BE49-F238E27FC236}">
                <a16:creationId xmlns:a16="http://schemas.microsoft.com/office/drawing/2014/main" id="{0C70921C-94AF-4ABD-A621-13E35D6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814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וניקוד זמן</a:t>
            </a:r>
          </a:p>
        </p:txBody>
      </p:sp>
      <p:sp>
        <p:nvSpPr>
          <p:cNvPr id="11" name="security-body-2">
            <a:extLst xmlns:a="http://schemas.openxmlformats.org/drawingml/2006/main">
              <a:ext uri="{FF2B5EF4-FFF2-40B4-BE49-F238E27FC236}">
                <a16:creationId xmlns:a16="http://schemas.microsoft.com/office/drawing/2014/main" id="{E41AB32A-839C-4599-A1C9-0DEF34CC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3390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המסד. בזמן נקבע הנעילה מועד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מצטבר. ואינו מחדש מחושב הניקוד</a:t>
            </a:r>
          </a:p>
        </p:txBody>
      </p:sp>
      <p:sp>
        <p:nvSpPr>
          <p:cNvPr id="12" name="security-rule-3">
            <a:extLst xmlns:a="http://schemas.openxmlformats.org/drawingml/2006/main">
              <a:ext uri="{FF2B5EF4-FFF2-40B4-BE49-F238E27FC236}">
                <a16:creationId xmlns:a16="http://schemas.microsoft.com/office/drawing/2014/main" id="{86108820-28FA-41F8-BD63-3A224084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8A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ecurity-heading-3">
            <a:extLst xmlns:a="http://schemas.openxmlformats.org/drawingml/2006/main">
              <a:ext uri="{FF2B5EF4-FFF2-40B4-BE49-F238E27FC236}">
                <a16:creationId xmlns:a16="http://schemas.microsoft.com/office/drawing/2014/main" id="{A03D38CC-6A06-4165-992A-1AF2F678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הוכחות</a:t>
            </a:r>
          </a:p>
        </p:txBody>
      </p:sp>
      <p:sp>
        <p:nvSpPr>
          <p:cNvPr id="14" name="security-body-3">
            <a:extLst xmlns:a="http://schemas.openxmlformats.org/drawingml/2006/main">
              <a:ext uri="{FF2B5EF4-FFF2-40B4-BE49-F238E27FC236}">
                <a16:creationId xmlns:a16="http://schemas.microsoft.com/office/drawing/2014/main" id="{2EF6E86F-3493-47ED-BD55-D257C7B1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מחדש. קידוד לאחר פרטי בדלי נשמר הקובץ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הרשאה. אחרי רק נוצר קצר קישור</a:t>
            </a:r>
          </a:p>
        </p:txBody>
      </p:sp>
      <p:sp>
        <p:nvSpPr>
          <p:cNvPr id="15" name="slide-5-footer-label">
            <a:extLst xmlns:a="http://schemas.openxmlformats.org/drawingml/2006/main">
              <a:ext uri="{FF2B5EF4-FFF2-40B4-BE49-F238E27FC236}">
                <a16:creationId xmlns:a16="http://schemas.microsoft.com/office/drawing/2014/main" id="{DB33365F-4778-4499-AA53-7DFC4689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16" name="slide-5-footer-number">
            <a:extLst xmlns:a="http://schemas.openxmlformats.org/drawingml/2006/main">
              <a:ext uri="{FF2B5EF4-FFF2-40B4-BE49-F238E27FC236}">
                <a16:creationId xmlns:a16="http://schemas.microsoft.com/office/drawing/2014/main" id="{95BD95A0-EEC4-4BB6-821A-3817C205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53599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047AAEF-AF76-4974-91EE-C9E21412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מפורשת החלטה דורש מאוחר תיקון דירוג; מקפיאה השלמה</a:t>
            </a:r>
          </a:p>
        </p:txBody>
      </p:sp>
      <p:sp>
        <p:nvSpPr>
          <p:cNvPr id="2" name="slide-6-rule">
            <a:extLst xmlns:a="http://schemas.openxmlformats.org/drawingml/2006/main">
              <a:ext uri="{FF2B5EF4-FFF2-40B4-BE49-F238E27FC236}">
                <a16:creationId xmlns:a16="http://schemas.microsoft.com/office/drawing/2014/main" id="{6AD8AE6A-7C93-4D00-8375-BFBF72424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712325b3da404a"/>
          <a:stretch xmlns:a="http://schemas.openxmlformats.org/drawingml/2006/main"/>
        </p:blipFill>
        <p:spPr>
          <a:xfrm xmlns:a="http://schemas.openxmlformats.org/drawingml/2006/main">
            <a:off x="1433810" y="1562100"/>
            <a:ext cx="5304829" cy="4438650"/>
          </a:xfrm>
          <a:prstGeom xmlns:a="http://schemas.openxmlformats.org/drawingml/2006/main" prst="rect">
            <a:avLst/>
          </a:prstGeom>
        </p:spPr>
      </p:pic>
      <p:sp>
        <p:nvSpPr>
          <p:cNvPr id="4" name="finality-heading">
            <a:extLst xmlns:a="http://schemas.openxmlformats.org/drawingml/2006/main">
              <a:ext uri="{FF2B5EF4-FFF2-40B4-BE49-F238E27FC236}">
                <a16:creationId xmlns:a16="http://schemas.microsoft.com/office/drawing/2014/main" id="{5E21BC61-E517-406D-924E-138D34F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95450"/>
            <a:ext cx="365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8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אטומית נסגר מה</a:t>
            </a:r>
          </a:p>
        </p:txBody>
      </p:sp>
      <p:sp>
        <p:nvSpPr>
          <p:cNvPr id="5" name="finality-list">
            <a:extLst xmlns:a="http://schemas.openxmlformats.org/drawingml/2006/main">
              <a:ext uri="{FF2B5EF4-FFF2-40B4-BE49-F238E27FC236}">
                <a16:creationId xmlns:a16="http://schemas.microsoft.com/office/drawing/2014/main" id="{428400D9-3E8B-42B7-BD33-32866089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43150"/>
            <a:ext cx="36576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המשחקים לכל סופי מצב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וניקוד תוצאה של מצב תמונת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פתוחות הצטרפות בקשות סגירת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ביקורת ויומן היסטוריה הוכחות, שמירת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0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מאוחר לתיקון מפורש יישוב •</a:t>
            </a:r>
          </a:p>
        </p:txBody>
      </p:sp>
      <p:sp>
        <p:nvSpPr>
          <p:cNvPr id="6" name="finality-callout">
            <a:extLst xmlns:a="http://schemas.openxmlformats.org/drawingml/2006/main">
              <a:ext uri="{FF2B5EF4-FFF2-40B4-BE49-F238E27FC236}">
                <a16:creationId xmlns:a16="http://schemas.microsoft.com/office/drawing/2014/main" id="{5A555CA2-C055-46F2-8A7B-33EFA951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57800"/>
            <a:ext cx="3657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בטרנזקציה. שנאכף סופיות חוזה היא — סטטוס רק אינה השלמה</a:t>
            </a:r>
          </a:p>
        </p:txBody>
      </p:sp>
      <p:sp>
        <p:nvSpPr>
          <p:cNvPr id="7" name="slide-6-footer-label">
            <a:extLst xmlns:a="http://schemas.openxmlformats.org/drawingml/2006/main">
              <a:ext uri="{FF2B5EF4-FFF2-40B4-BE49-F238E27FC236}">
                <a16:creationId xmlns:a16="http://schemas.microsoft.com/office/drawing/2014/main" id="{6C713CED-3369-4527-B63A-50564610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8" name="slide-6-footer-number">
            <a:extLst xmlns:a="http://schemas.openxmlformats.org/drawingml/2006/main">
              <a:ext uri="{FF2B5EF4-FFF2-40B4-BE49-F238E27FC236}">
                <a16:creationId xmlns:a16="http://schemas.microsoft.com/office/drawing/2014/main" id="{A17CF1BD-C091-4EA5-9B27-DC660FBE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57446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E0B348BF-E337-45E0-800C-E764D8CE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חוזה אותו על מגינות בדיקה שכבות שלוש</a:t>
            </a:r>
          </a:p>
        </p:txBody>
      </p:sp>
      <p:sp>
        <p:nvSpPr>
          <p:cNvPr id="2" name="slide-7-rule">
            <a:extLst xmlns:a="http://schemas.openxmlformats.org/drawingml/2006/main">
              <a:ext uri="{FF2B5EF4-FFF2-40B4-BE49-F238E27FC236}">
                <a16:creationId xmlns:a16="http://schemas.microsoft.com/office/drawing/2014/main" id="{E67F43BB-5B27-43B7-A0D6-8A747AB2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st-intro">
            <a:extLst xmlns:a="http://schemas.openxmlformats.org/drawingml/2006/main">
              <a:ext uri="{FF2B5EF4-FFF2-40B4-BE49-F238E27FC236}">
                <a16:creationId xmlns:a16="http://schemas.microsoft.com/office/drawing/2014/main" id="{DCFC08D8-314C-4F86-A174-4C4CA5DD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Final-SHA evidence only • CI does not depend on a live Sports provider</a:t>
            </a:r>
          </a:p>
        </p:txBody>
      </p:sp>
      <p:sp>
        <p:nvSpPr>
          <p:cNvPr id="4" name="metric-panel-0">
            <a:extLst xmlns:a="http://schemas.openxmlformats.org/drawingml/2006/main">
              <a:ext uri="{FF2B5EF4-FFF2-40B4-BE49-F238E27FC236}">
                <a16:creationId xmlns:a16="http://schemas.microsoft.com/office/drawing/2014/main" id="{0EA96925-4C3F-4E82-A8CE-36139726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200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etric-value-0">
            <a:extLst xmlns:a="http://schemas.openxmlformats.org/drawingml/2006/main">
              <a:ext uri="{FF2B5EF4-FFF2-40B4-BE49-F238E27FC236}">
                <a16:creationId xmlns:a16="http://schemas.microsoft.com/office/drawing/2014/main" id="{FFB1FCC4-28C8-4E9A-A376-AC8BFAC5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RULES</a:t>
            </a:r>
          </a:p>
        </p:txBody>
      </p:sp>
      <p:sp>
        <p:nvSpPr>
          <p:cNvPr id="6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C8FEA69A-E429-4AFA-A33E-87CFC65D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00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Vitest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validation + domain</a:t>
            </a:r>
          </a:p>
        </p:txBody>
      </p:sp>
      <p:sp>
        <p:nvSpPr>
          <p:cNvPr id="7" name="metric-panel-1">
            <a:extLst xmlns:a="http://schemas.openxmlformats.org/drawingml/2006/main">
              <a:ext uri="{FF2B5EF4-FFF2-40B4-BE49-F238E27FC236}">
                <a16:creationId xmlns:a16="http://schemas.microsoft.com/office/drawing/2014/main" id="{19E4141E-6302-4B1E-A32C-214C62E1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86000"/>
            <a:ext cx="3200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value-1">
            <a:extLst xmlns:a="http://schemas.openxmlformats.org/drawingml/2006/main">
              <a:ext uri="{FF2B5EF4-FFF2-40B4-BE49-F238E27FC236}">
                <a16:creationId xmlns:a16="http://schemas.microsoft.com/office/drawing/2014/main" id="{8E2A93A3-2C29-408F-A34C-B47C5DD4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860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9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55F79B35-50AA-4E12-97D8-94E553A7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100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pgTAP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RLS + atomicity</a:t>
            </a:r>
          </a:p>
        </p:txBody>
      </p:sp>
      <p:sp>
        <p:nvSpPr>
          <p:cNvPr id="10" name="metric-panel-2">
            <a:extLst xmlns:a="http://schemas.openxmlformats.org/drawingml/2006/main">
              <a:ext uri="{FF2B5EF4-FFF2-40B4-BE49-F238E27FC236}">
                <a16:creationId xmlns:a16="http://schemas.microsoft.com/office/drawing/2014/main" id="{6AAEC828-46E6-4710-A538-6EF07913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2004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value-2">
            <a:extLst xmlns:a="http://schemas.openxmlformats.org/drawingml/2006/main">
              <a:ext uri="{FF2B5EF4-FFF2-40B4-BE49-F238E27FC236}">
                <a16:creationId xmlns:a16="http://schemas.microsoft.com/office/drawing/2014/main" id="{B0743DC4-88B1-41DC-ADC3-546F3AC7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860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FLOWS</a:t>
            </a:r>
          </a:p>
        </p:txBody>
      </p:sp>
      <p:sp>
        <p:nvSpPr>
          <p:cNvPr id="12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B42CF98B-B47D-4984-88B0-F24BC973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00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Playwright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lifecycle + cross-user</a:t>
            </a:r>
          </a:p>
        </p:txBody>
      </p:sp>
      <p:sp>
        <p:nvSpPr>
          <p:cNvPr id="13" name="test-footer">
            <a:extLst xmlns:a="http://schemas.openxmlformats.org/drawingml/2006/main">
              <a:ext uri="{FF2B5EF4-FFF2-40B4-BE49-F238E27FC236}">
                <a16:creationId xmlns:a16="http://schemas.microsoft.com/office/drawing/2014/main" id="{888A038E-6EC8-42F5-9247-FEA0A185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אמיתיים. ומרוצים סודות סריקת ייצור, בניית טיפוסים, סגנון, בדיקות עברו בנוסף</a:t>
            </a:r>
          </a:p>
        </p:txBody>
      </p:sp>
      <p:sp>
        <p:nvSpPr>
          <p:cNvPr id="14" name="slide-7-footer-label">
            <a:extLst xmlns:a="http://schemas.openxmlformats.org/drawingml/2006/main">
              <a:ext uri="{FF2B5EF4-FFF2-40B4-BE49-F238E27FC236}">
                <a16:creationId xmlns:a16="http://schemas.microsoft.com/office/drawing/2014/main" id="{9E8F191C-9B31-448E-850C-6993E529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15" name="slide-7-footer-number">
            <a:extLst xmlns:a="http://schemas.openxmlformats.org/drawingml/2006/main">
              <a:ext uri="{FF2B5EF4-FFF2-40B4-BE49-F238E27FC236}">
                <a16:creationId xmlns:a16="http://schemas.microsoft.com/office/drawing/2014/main" id="{FE961C2A-B176-4A05-9042-0E97E868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61926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70E20ED-D9A2-49C3-BB3E-B7B98BA5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0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היקף ואישור מדידה אחרי רק מתרחבת המערכת</a:t>
            </a:r>
          </a:p>
        </p:txBody>
      </p:sp>
      <p:sp>
        <p:nvSpPr>
          <p:cNvPr id="2" name="slide-8-rule">
            <a:extLst xmlns:a="http://schemas.openxmlformats.org/drawingml/2006/main">
              <a:ext uri="{FF2B5EF4-FFF2-40B4-BE49-F238E27FC236}">
                <a16:creationId xmlns:a16="http://schemas.microsoft.com/office/drawing/2014/main" id="{D90DA0CB-E618-417F-A131-07D24538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cale-heading">
            <a:extLst xmlns:a="http://schemas.openxmlformats.org/drawingml/2006/main">
              <a:ext uri="{FF2B5EF4-FFF2-40B4-BE49-F238E27FC236}">
                <a16:creationId xmlns:a16="http://schemas.microsoft.com/office/drawing/2014/main" id="{55E049D4-5725-4748-B3E6-50EAE95D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764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נוכחי סקייל</a:t>
            </a:r>
          </a:p>
        </p:txBody>
      </p:sp>
      <p:sp>
        <p:nvSpPr>
          <p:cNvPr id="4" name="scale-list">
            <a:extLst xmlns:a="http://schemas.openxmlformats.org/drawingml/2006/main">
              <a:ext uri="{FF2B5EF4-FFF2-40B4-BE49-F238E27FC236}">
                <a16:creationId xmlns:a16="http://schemas.microsoft.com/office/drawing/2014/main" id="{326D19EB-B511-4B4C-A8C0-7F09E0B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05050"/>
            <a:ext cx="5334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משתמשים מאות עד עשרות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במסד קבוצתי ניקוד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משחקים 20 עד ממוקד סנכרון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זמין תמיד ידני מסלול •</a:t>
            </a:r>
          </a:p>
        </p:txBody>
      </p:sp>
      <p:sp>
        <p:nvSpPr>
          <p:cNvPr id="5" name="future-heading">
            <a:extLst xmlns:a="http://schemas.openxmlformats.org/drawingml/2006/main">
              <a:ext uri="{FF2B5EF4-FFF2-40B4-BE49-F238E27FC236}">
                <a16:creationId xmlns:a16="http://schemas.microsoft.com/office/drawing/2014/main" id="{1C71897D-0992-478A-A186-36AC8B02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1">
                <a:solidFill>
                  <a:srgbClr val="0B8A6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8A61"/>
                </a:solidFill>
                <a:latin typeface="Arial"/>
                <a:ea typeface="Arial"/>
                <a:cs typeface="Arial"/>
              </a:rPr>
              <a:t>מגודר עתיד</a:t>
            </a:r>
          </a:p>
        </p:txBody>
      </p:sp>
      <p:sp>
        <p:nvSpPr>
          <p:cNvPr id="6" name="future-list">
            <a:extLst xmlns:a="http://schemas.openxmlformats.org/drawingml/2006/main">
              <a:ext uri="{FF2B5EF4-FFF2-40B4-BE49-F238E27FC236}">
                <a16:creationId xmlns:a16="http://schemas.microsoft.com/office/drawing/2014/main" id="{C09E228D-7B5B-4DF2-937C-4FD389E7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5334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משתתפים לאלפי רק חומרית דירוג טבלת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עומס מדידת אחרי רק קבועה יציאה כתובת או נפרד שירות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חזרה ויכולת היתכנות הוכחת מאחורי נשאר חי ספורט ספק •</a:t>
            </a:r>
          </a:p>
          <a:p xmlns:a="http://schemas.openxmlformats.org/drawingml/2006/main">
            <a:pPr algn="r">
              <a:lnSpc>
                <a:spcPct val="105000"/>
              </a:lnSpc>
              <a:buNone/>
              <a:defRPr sz="1575" b="0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33F"/>
                </a:solidFill>
                <a:latin typeface="Arial"/>
                <a:ea typeface="Arial"/>
                <a:cs typeface="Arial"/>
              </a:rPr>
              <a:t>וציות היקף אישור לפני אמיתי כסף או גנרטיבי מודל אין •</a:t>
            </a:r>
          </a:p>
        </p:txBody>
      </p:sp>
      <p:sp>
        <p:nvSpPr>
          <p:cNvPr id="7" name="tradeoff-band">
            <a:extLst xmlns:a="http://schemas.openxmlformats.org/drawingml/2006/main">
              <a:ext uri="{FF2B5EF4-FFF2-40B4-BE49-F238E27FC236}">
                <a16:creationId xmlns:a16="http://schemas.microsoft.com/office/drawing/2014/main" id="{F636D34D-99DE-4F38-B4EB-F7FC7E50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radeoff-copy">
            <a:extLst xmlns:a="http://schemas.openxmlformats.org/drawingml/2006/main">
              <a:ext uri="{FF2B5EF4-FFF2-40B4-BE49-F238E27FC236}">
                <a16:creationId xmlns:a16="http://schemas.microsoft.com/office/drawing/2014/main" id="{4B037FFE-62B8-436F-88D9-F2D441A9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75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נחוצה. שהיא מוכיחים נתונים כאשר רק נוספת מורכבות עכשיו, והסבריות אמינות הבחירה:</a:t>
            </a:r>
          </a:p>
        </p:txBody>
      </p:sp>
      <p:sp>
        <p:nvSpPr>
          <p:cNvPr id="9" name="slide-8-footer-label">
            <a:extLst xmlns:a="http://schemas.openxmlformats.org/drawingml/2006/main">
              <a:ext uri="{FF2B5EF4-FFF2-40B4-BE49-F238E27FC236}">
                <a16:creationId xmlns:a16="http://schemas.microsoft.com/office/drawing/2014/main" id="{12BB25DB-E4DB-4E08-93C5-2C25D1458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10" name="slide-8-footer-number">
            <a:extLst xmlns:a="http://schemas.openxmlformats.org/drawingml/2006/main">
              <a:ext uri="{FF2B5EF4-FFF2-40B4-BE49-F238E27FC236}">
                <a16:creationId xmlns:a16="http://schemas.microsoft.com/office/drawing/2014/main" id="{559D6581-FC48-4583-AB64-68D02CD3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208222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A327F7D2-B570-42BE-AAB1-FB5769A1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75CC"/>
                </a:solidFill>
                <a:latin typeface="Arial"/>
                <a:ea typeface="Arial"/>
                <a:cs typeface="Arial"/>
              </a:rPr>
              <a:t>סיכום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F9C8AA8-B84C-4D77-B9A5-315C06C8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62100"/>
            <a:ext cx="8153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3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וסופיות אבטחה מוצר, מחברת אחת הדגמה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3C6CF384-BA03-480A-8E5A-A0DF971A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5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copy">
            <a:extLst xmlns:a="http://schemas.openxmlformats.org/drawingml/2006/main">
              <a:ext uri="{FF2B5EF4-FFF2-40B4-BE49-F238E27FC236}">
                <a16:creationId xmlns:a16="http://schemas.microsoft.com/office/drawing/2014/main" id="{D70F5928-96E0-43B2-ABC6-2B7955E7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81350"/>
            <a:ext cx="8305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9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סופי דירוג ← תוצאה ← ניחוש ← הפעלה ← הצטרפות ← פתיחה</a:t>
            </a:r>
          </a:p>
        </p:txBody>
      </p:sp>
      <p:sp>
        <p:nvSpPr>
          <p:cNvPr id="5" name="public-links">
            <a:extLst xmlns:a="http://schemas.openxmlformats.org/drawingml/2006/main">
              <a:ext uri="{FF2B5EF4-FFF2-40B4-BE49-F238E27FC236}">
                <a16:creationId xmlns:a16="http://schemas.microsoft.com/office/drawing/2014/main" id="{85202BD8-D080-428D-BF24-224D91B5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46a5e2486ec34c56"/>
              </a:rPr>
              <a:t>Production Demo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1F75C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75CC"/>
                </a:solidFill>
                <a:latin typeface="Arial"/>
                <a:ea typeface="Arial"/>
                <a:cs typeface="Arial"/>
                <a:hlinkClick xmlns:r="http://schemas.openxmlformats.org/officeDocument/2006/relationships" r:id="R3328295366334335"/>
              </a:rPr>
              <a:t>GitHub repository</a:t>
            </a:r>
          </a:p>
        </p:txBody>
      </p:sp>
      <p:sp>
        <p:nvSpPr>
          <p:cNvPr id="6" name="close-boundary">
            <a:extLst xmlns:a="http://schemas.openxmlformats.org/drawingml/2006/main">
              <a:ext uri="{FF2B5EF4-FFF2-40B4-BE49-F238E27FC236}">
                <a16:creationId xmlns:a16="http://schemas.microsoft.com/office/drawing/2014/main" id="{5100D290-F9DE-451A-BEFE-4B54EA0D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53911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1023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233F"/>
                </a:solidFill>
                <a:latin typeface="Arial"/>
                <a:ea typeface="Arial"/>
                <a:cs typeface="Arial"/>
              </a:rPr>
              <a:t>נצפתה. שלא טענה ובלי סיסמה בלי סיפור אותו את ממשיכים גיבוי צילומי ושלושה ההדגמה תסריט תקלה: במקרה</a:t>
            </a:r>
          </a:p>
        </p:txBody>
      </p:sp>
      <p:sp>
        <p:nvSpPr>
          <p:cNvPr id="7" name="slide-9-footer-label">
            <a:extLst xmlns:a="http://schemas.openxmlformats.org/drawingml/2006/main">
              <a:ext uri="{FF2B5EF4-FFF2-40B4-BE49-F238E27FC236}">
                <a16:creationId xmlns:a16="http://schemas.microsoft.com/office/drawing/2014/main" id="{853C80CD-77B9-450C-B8B4-F170AFFC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Predictor1  •  RUNI 2026  •  Demo בלבד</a:t>
            </a:r>
          </a:p>
        </p:txBody>
      </p:sp>
      <p:sp>
        <p:nvSpPr>
          <p:cNvPr id="8" name="slide-9-footer-number">
            <a:extLst xmlns:a="http://schemas.openxmlformats.org/drawingml/2006/main">
              <a:ext uri="{FF2B5EF4-FFF2-40B4-BE49-F238E27FC236}">
                <a16:creationId xmlns:a16="http://schemas.microsoft.com/office/drawing/2014/main" id="{1E2BD4C3-2FB1-440A-A1EB-C80AA9F5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378544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2026-08-27T17:48:03.3150000Z</dcterms:created>
  <dcterms:modified xsi:type="dcterms:W3CDTF">2026-08-27T17:48:03.3160000Z</dcterms:modified>
</coreProperties>
</file>