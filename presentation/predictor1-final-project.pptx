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  <p:sldId xmlns:r="http://schemas.openxmlformats.org/officeDocument/2006/relationships" id="266" r:id="rId16"/>
    <p:sldId xmlns:r="http://schemas.openxmlformats.org/officeDocument/2006/relationships" id="267" r:id="rId17"/>
    <p:sldId xmlns:r="http://schemas.openxmlformats.org/officeDocument/2006/relationships" id="268" r:id="rId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Relationship Type="http://schemas.openxmlformats.org/officeDocument/2006/relationships/slide" Target="/ppt/slides/slide11.xml" Id="rId16" /><Relationship Type="http://schemas.openxmlformats.org/officeDocument/2006/relationships/slide" Target="/ppt/slides/slide12.xml" Id="rId17" /><Relationship Type="http://schemas.openxmlformats.org/officeDocument/2006/relationships/slide" Target="/ppt/slides/slide13.xml" Id="rId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Id1" /><Relationship Type="http://schemas.openxmlformats.org/officeDocument/2006/relationships/notesMaster" Target="/ppt/notesMasters/notesMaster1.xml" Id="rI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Id1" /><Relationship Type="http://schemas.openxmlformats.org/officeDocument/2006/relationships/notesMaster" Target="/ppt/notesMasters/notesMaster1.xml" Id="rI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זו מערכת אמון לליגה פרטית, לא רק מחשבון ניקוד.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מחזור חיים מלא ותוצאה סופית שנשמרת במפורש.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§§2–3, 6</a:t>
            </a:r>
            <a:endParaRPr/>
          </a:p>
          <a:p xmlns:a="http://schemas.openxmlformats.org/drawingml/2006/main">
            <a:pPr algn="r">
              <a:buNone/>
            </a:pPr>
            <a:r>
              <a:t>README.md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הפיצול הידני יוצר מחלוקות שאין להן ראיה אחת מוסכמת.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מוקדי המחלוקת הממשיים הם חברות, נעילה, ניקוד ותיקון תוצאה.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§§2–4, 13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Slices 3–6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תפקיד הוא תחום אחריות, לא קיצור דרך להרשאה רחבה.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רשימת החברים הפעילים אינה חושפת דוא״ל, ותפקיד מערכת אינו חוצה את גבול הליגה.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§§4, 9.3–9.7, 12</a:t>
            </a:r>
            <a:endParaRPr/>
          </a:p>
          <a:p xmlns:a="http://schemas.openxmlformats.org/drawingml/2006/main">
            <a:pPr algn="r">
              <a:buNone/>
            </a:pPr>
            <a:r>
              <a:t>src/features/membership/actions.ts</a:t>
            </a:r>
            <a:endParaRPr/>
          </a:p>
          <a:p xmlns:a="http://schemas.openxmlformats.org/drawingml/2006/main">
            <a:pPr algn="r">
              <a:buNone/>
            </a:pPr>
            <a:r>
              <a:t>src/features/predictions/actions.ts</a:t>
            </a:r>
            <a:endParaRPr/>
          </a:p>
          <a:p xmlns:a="http://schemas.openxmlformats.org/drawingml/2006/main">
            <a:pPr algn="r">
              <a:buNone/>
            </a:pPr>
            <a:r>
              <a:t>e2e/join-and-proofs.spec.ts</a:t>
            </a:r>
            <a:endParaRPr/>
          </a:p>
          <a:p xmlns:a="http://schemas.openxmlformats.org/drawingml/2006/main">
            <a:pPr algn="r">
              <a:buNone/>
            </a:pPr>
            <a:r>
              <a:t>e2e/leagues.spec.ts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אותו סיפור משתמש ממשיך ממצב פתוח עד מצב סופי.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חמש תמונות הגיבוי נלכדות מאותו תרחיש </a:t>
            </a:r>
            <a:r>
              <a:rPr lang="en-US"/>
              <a:t xml:space="preserve">Playwright </a:t>
            </a:r>
            <a:r>
              <a:rPr lang="he-IL"/>
              <a:t>מקומי; שלוש מהן מוצגות כאן כמפת הזרימה.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S9-PDEC-001–005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 9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presentation/fallback/01-open-league.png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presentation/fallback/03-active-current-report.png</a:t>
            </a:r>
            <a:endParaRPr/>
          </a:p>
          <a:p xmlns:a="http://schemas.openxmlformats.org/drawingml/2006/main">
            <a:pPr algn="r">
              <a:buNone/>
            </a:pPr>
            <a:r>
              <a:t>presentation/fallback/04-completed-final-frozen.png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נקודה: אין </a:t>
            </a:r>
            <a:r>
              <a:rPr lang="en-US"/>
              <a:t xml:space="preserve">backend </a:t>
            </a:r>
            <a:r>
              <a:rPr lang="he-IL"/>
              <a:t>נוסף ואין שכפול של כללים בין היישום למסד.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</a:t>
            </a:r>
            <a:r>
              <a:rPr lang="en-US"/>
              <a:t xml:space="preserve">Browser, Next.js, </a:t>
            </a:r>
            <a:r>
              <a:rPr lang="he-IL"/>
              <a:t>שירותי התכונה ו־</a:t>
            </a:r>
            <a:r>
              <a:rPr lang="en-US"/>
              <a:t xml:space="preserve">PostgreSQL </a:t>
            </a:r>
            <a:r>
              <a:rPr lang="he-IL"/>
              <a:t>מקבלים אחריות מפורשת ונפרדת.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§§2–6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§§3, 7, 9–10</a:t>
            </a:r>
            <a:endParaRPr/>
          </a:p>
          <a:p xmlns:a="http://schemas.openxmlformats.org/drawingml/2006/main">
            <a:pPr algn="r">
              <a:buNone/>
            </a:pPr>
            <a:r>
              <a:t>src/proxy.ts</a:t>
            </a:r>
            <a:endParaRPr/>
          </a:p>
          <a:p xmlns:a="http://schemas.openxmlformats.org/drawingml/2006/main">
            <a:pPr algn="r">
              <a:buNone/>
            </a:pPr>
            <a:r>
              <a:t>src/app/api/cron/sync/route.ts</a:t>
            </a:r>
            <a:endParaRPr/>
          </a:p>
          <a:p xmlns:a="http://schemas.openxmlformats.org/drawingml/2006/main">
            <a:pPr algn="r">
              <a:buNone/>
            </a:pPr>
            <a:r>
              <a:t>src/app/api/join-requests/[requestId]/proofs/route.ts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הפרדת הישויות שומרת היסטוריה ומונעת דריסה של המצב הסופי.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התרשים משתמש בשמות הטבלאות האמיתיים מן הסכמות והמיגרציות.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§8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§§6.2–6.7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supabase/migrations/20260814231000_slice3_membership_and_proofs.sql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supabase/migrations/20260815200500_slice5_predictions.sql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supabase/migrations/20260827090000_slice9_lifecycle_schema.sql</a:t>
            </a:r>
            <a:endParaRPr/>
          </a:p>
          <a:p xmlns:a="http://schemas.openxmlformats.org/drawingml/2006/main">
            <a:pPr algn="r">
              <a:buNone/>
            </a:pPr>
            <a:r>
              <a:t>src/types/database.generated.ts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נקודה: זהות, הרשאת משאב, </a:t>
            </a:r>
            <a:r>
              <a:rPr lang="en-US"/>
              <a:t xml:space="preserve">RLS </a:t>
            </a:r>
            <a:r>
              <a:rPr lang="he-IL"/>
              <a:t>וגבול הקובץ הם בקרות נפרדות.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ראיה: מסלול האסמכתה המלא והבדיקות השליליות של משתמש זר מוכיחים את ההפרדה.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docs/security.md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§§6–7, 12–13</a:t>
            </a:r>
            <a:endParaRPr/>
          </a:p>
          <a:p xmlns:a="http://schemas.openxmlformats.org/drawingml/2006/main">
            <a:pPr algn="r">
              <a:buNone/>
            </a:pPr>
            <a:r>
              <a:t>src/lib/supabase/admin.ts</a:t>
            </a:r>
            <a:endParaRPr/>
          </a:p>
          <a:p xmlns:a="http://schemas.openxmlformats.org/drawingml/2006/main">
            <a:pPr algn="r">
              <a:buNone/>
            </a:pPr>
            <a:r>
              <a:t>src/features/files/private-proof-storage.ts</a:t>
            </a:r>
            <a:endParaRPr/>
          </a:p>
          <a:p xmlns:a="http://schemas.openxmlformats.org/drawingml/2006/main">
            <a:pPr algn="r">
              <a:buNone/>
            </a:pPr>
            <a:r>
              <a:t>src/app/api/payment-proofs/[proofId]/route.ts</a:t>
            </a:r>
            <a:endParaRPr/>
          </a:p>
          <a:p xmlns:a="http://schemas.openxmlformats.org/drawingml/2006/main">
            <a:pPr algn="r">
              <a:buNone/>
            </a:pPr>
            <a:r>
              <a:t>supabase/tests/proofs.test.sql</a:t>
            </a:r>
            <a:endParaRPr/>
          </a:p>
          <a:p xmlns:a="http://schemas.openxmlformats.org/drawingml/2006/main">
            <a:pPr algn="r">
              <a:buNone/>
            </a:pPr>
            <a:r>
              <a:t>e2e/join-and-proofs.spec.ts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משתמש אינו יכול להאריך לעצמו את חלון הניחוש באמצעות שעון מקומי או בקשה שהתעכבה.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הנעילות נרכשות בסדר הקנוני ורק אחריהן נקרא </a:t>
            </a:r>
            <a:r>
              <a:rPr lang="en-US"/>
              <a:t>clock_timestamp().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PRED-03, PRED-04, §13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docs/security.md — </a:t>
            </a:r>
            <a:r>
              <a:rPr lang="he-IL"/>
              <a:t xml:space="preserve">סדר נעילות </a:t>
            </a:r>
            <a:r>
              <a:rPr lang="en-US"/>
              <a:t>lifecycle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supabase/migrations/20260826193000_slice9_database_time_serialization.sql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supabase/tests/slice9-time-serialization.test.sql</a:t>
            </a:r>
            <a:endParaRPr/>
          </a:p>
          <a:p xmlns:a="http://schemas.openxmlformats.org/drawingml/2006/main">
            <a:pPr algn="r">
              <a:buNone/>
            </a:pPr>
            <a:r>
              <a:t>e2e/prediction-lock.spec.ts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הדירוג הסופי נשאר סופי, אך תיקון מוצדק אפשרי במסלול מפורש ומתועד.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>ראיה: ה־</a:t>
            </a:r>
            <a:r>
              <a:rPr lang="en-US"/>
              <a:t xml:space="preserve">completion </a:t>
            </a:r>
            <a:r>
              <a:rPr lang="he-IL"/>
              <a:t xml:space="preserve">מקפיא </a:t>
            </a:r>
            <a:r>
              <a:rPr lang="en-US"/>
              <a:t xml:space="preserve">snapshot </a:t>
            </a:r>
            <a:r>
              <a:rPr lang="he-IL"/>
              <a:t xml:space="preserve">וסוגר בקשות באותה </a:t>
            </a:r>
            <a:r>
              <a:rPr lang="en-US"/>
              <a:t xml:space="preserve">transaction; </a:t>
            </a:r>
            <a:r>
              <a:rPr lang="he-IL"/>
              <a:t xml:space="preserve">התיקון המאוחר אינו חל עד </a:t>
            </a:r>
            <a:r>
              <a:rPr lang="en-US"/>
              <a:t>reconciliation.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— S9-PDEC-002–004, LEAGUE-09, MATCH-09, JOIN-14</a:t>
            </a:r>
            <a:endParaRPr/>
          </a:p>
          <a:p xmlns:a="http://schemas.openxmlformats.org/drawingml/2006/main">
            <a:pPr algn="r">
              <a:buNone/>
            </a:pPr>
            <a:r>
              <a:t>docs/security.md — Slice 9 lifecycle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supabase/migrations/20260827110000_slice9_league_completion.sql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supabase/migrations/20260827120000_slice9_match_review_reconciliation.sql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supabase/migrations/20260827140000_slice9_lifecycle_concurrency_hardening.sql</a:t>
            </a:r>
            <a:endParaRPr/>
          </a:p>
          <a:p xmlns:a="http://schemas.openxmlformats.org/drawingml/2006/main">
            <a:pPr algn="r">
              <a:buNone/>
            </a:pPr>
            <a:r>
              <a:t>supabase/tests/slice9-lifecycle-concurrency.test.sql</a:t>
            </a:r>
            <a:endParaRPr/>
          </a:p>
          <a:p xmlns:a="http://schemas.openxmlformats.org/drawingml/2006/main">
            <a:pPr algn="r">
              <a:buNone/>
            </a:pPr>
            <a:r>
              <a:t>e2e/lifecycle.spec.ts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כל סיכון נבדק בשכבה שבה הוא באמת קורה; ירוק קיים לבדו אינו ראיית סגירה.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</a:t>
            </a:r>
            <a:r>
              <a:rPr lang="en-US"/>
              <a:t xml:space="preserve">50 </a:t>
            </a:r>
            <a:r>
              <a:rPr lang="he-IL"/>
              <a:t xml:space="preserve">קובצי </a:t>
            </a:r>
            <a:r>
              <a:rPr lang="en-US"/>
              <a:t xml:space="preserve">Vitest </a:t>
            </a:r>
            <a:r>
              <a:rPr lang="he-IL"/>
              <a:t xml:space="preserve">עם </a:t>
            </a:r>
            <a:r>
              <a:rPr lang="en-US"/>
              <a:t xml:space="preserve">639 </a:t>
            </a:r>
            <a:r>
              <a:rPr lang="he-IL"/>
              <a:t xml:space="preserve">בדיקות, </a:t>
            </a:r>
            <a:r>
              <a:rPr lang="en-US"/>
              <a:t xml:space="preserve">31 </a:t>
            </a:r>
            <a:r>
              <a:rPr lang="he-IL"/>
              <a:t xml:space="preserve">קובצי </a:t>
            </a:r>
            <a:r>
              <a:rPr lang="en-US"/>
              <a:t xml:space="preserve">pgTAP </a:t>
            </a:r>
            <a:r>
              <a:rPr lang="he-IL"/>
              <a:t xml:space="preserve">עם </a:t>
            </a:r>
            <a:r>
              <a:rPr lang="en-US"/>
              <a:t xml:space="preserve">1,496 </a:t>
            </a:r>
            <a:r>
              <a:rPr lang="he-IL"/>
              <a:t>בדיקות ו־</a:t>
            </a:r>
            <a:r>
              <a:rPr lang="en-US"/>
              <a:t xml:space="preserve">38 </a:t>
            </a:r>
            <a:r>
              <a:rPr lang="he-IL"/>
              <a:t xml:space="preserve">בדיקות </a:t>
            </a:r>
            <a:r>
              <a:rPr lang="en-US"/>
              <a:t xml:space="preserve">Playwright </a:t>
            </a:r>
            <a:r>
              <a:rPr lang="he-IL"/>
              <a:t>נצפו בהרצה הסופית.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docs/testing.md</a:t>
            </a:r>
            <a:endParaRPr/>
          </a:p>
          <a:p xmlns:a="http://schemas.openxmlformats.org/drawingml/2006/main">
            <a:pPr algn="r">
              <a:buNone/>
            </a:pPr>
            <a:r>
              <a:t>docs/technical-plan.md §14</a:t>
            </a:r>
            <a:endParaRPr/>
          </a:p>
          <a:p xmlns:a="http://schemas.openxmlformats.org/drawingml/2006/main">
            <a:pPr algn="r">
              <a:buNone/>
            </a:pPr>
            <a:r>
              <a:t>package.json — test, test:db, test:e2e, verify</a:t>
            </a:r>
            <a:endParaRPr/>
          </a:p>
          <a:p xmlns:a="http://schemas.openxmlformats.org/drawingml/2006/main">
            <a:pPr algn="r">
              <a:buNone/>
            </a:pPr>
            <a:r>
              <a:t>src/**/*.test.ts</a:t>
            </a:r>
            <a:endParaRPr/>
          </a:p>
          <a:p xmlns:a="http://schemas.openxmlformats.org/drawingml/2006/main">
            <a:pPr algn="r">
              <a:buNone/>
            </a:pPr>
            <a:r>
              <a:t>supabase/tests/*.test.sql</a:t>
            </a:r>
            <a:endParaRPr/>
          </a:p>
          <a:p xmlns:a="http://schemas.openxmlformats.org/drawingml/2006/main">
            <a:pPr algn="r">
              <a:buNone/>
            </a:pPr>
            <a:r>
              <a:t>e2e/*.spec.ts</a:t>
            </a:r>
            <a:endParaRPr/>
          </a:p>
          <a:p xmlns:a="http://schemas.openxmlformats.org/drawingml/2006/main">
            <a:pPr algn="r">
              <a:buNone/>
            </a:pPr>
            <a:r>
              <a:t>docs/evidence/slice-9/w7/S9-REQ-002.md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הארכיטקטורה מספיקה ליעד הקורס משום שהשאילתות תחומות ונמדדות.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ארבע תוכניות </a:t>
            </a:r>
            <a:r>
              <a:rPr lang="en-US"/>
              <a:t xml:space="preserve">EXPLAIN ANALYZE </a:t>
            </a:r>
            <a:r>
              <a:rPr lang="he-IL"/>
              <a:t xml:space="preserve">עברו; בכל פלט נצפה </a:t>
            </a:r>
            <a:r>
              <a:rPr lang="en-US"/>
              <a:t xml:space="preserve">Function Scan </a:t>
            </a:r>
            <a:r>
              <a:rPr lang="he-IL"/>
              <a:t xml:space="preserve">תחום, עם </a:t>
            </a:r>
            <a:r>
              <a:rPr lang="en-US"/>
              <a:t xml:space="preserve">51, 51, 51 </a:t>
            </a:r>
            <a:r>
              <a:rPr lang="he-IL"/>
              <a:t>ו־</a:t>
            </a:r>
            <a:r>
              <a:rPr lang="en-US"/>
              <a:t xml:space="preserve">26 </a:t>
            </a:r>
            <a:r>
              <a:rPr lang="he-IL"/>
              <a:t>שורות.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docs/scale.md</a:t>
            </a:r>
            <a:endParaRPr/>
          </a:p>
          <a:p xmlns:a="http://schemas.openxmlformats.org/drawingml/2006/main">
            <a:pPr algn="r">
              <a:buNone/>
            </a:pPr>
            <a:r>
              <a:t>scripts/check-scale-plans.ts</a:t>
            </a:r>
            <a:endParaRPr/>
          </a:p>
          <a:p xmlns:a="http://schemas.openxmlformats.org/drawingml/2006/main">
            <a:pPr algn="r">
              <a:buNone/>
            </a:pPr>
            <a:r>
              <a:t>docs/evidence/slice-9/w8/S9-REQ-005.md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supabase/migrations/20260826310000_slice9_keyset_pagination.sql</a:t>
            </a:r>
            <a:endParaRPr/>
          </a:p>
          <a:p xmlns:a="http://schemas.openxmlformats.org/drawingml/2006/main">
            <a:pPr algn="r">
              <a:buNone/>
            </a:pPr>
            <a:r>
              <a:t>supabase/migrations/20260827130000_slice9_active_members.sql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המוצר אומר במפורש מה הוא אינו עושה ומה עדיין תלוי בתשתית חיצונית.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מטריצת הסביבות, הנתיב הידני וסריקות </a:t>
            </a:r>
            <a:r>
              <a:rPr lang="en-US"/>
              <a:t xml:space="preserve">bundle/log </a:t>
            </a:r>
            <a:r>
              <a:rPr lang="he-IL"/>
              <a:t>תומכים בגבולות הגרסה.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§§6, 8.2, 15</a:t>
            </a:r>
            <a:endParaRPr/>
          </a:p>
          <a:p xmlns:a="http://schemas.openxmlformats.org/drawingml/2006/main">
            <a:pPr algn="r">
              <a:buNone/>
            </a:pPr>
            <a:r>
              <a:t>docs/architecture.md §§2, 14, 19–21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docs/security.md — </a:t>
            </a:r>
            <a:r>
              <a:rPr lang="he-IL"/>
              <a:t>סיכונים שיוריים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docs/scale.md — </a:t>
            </a:r>
            <a:r>
              <a:rPr lang="he-IL"/>
              <a:t>גבולות ורמזי הרחבה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README.md — Sports Sync</a:t>
            </a:r>
            <a:endParaRPr/>
          </a:p>
          <a:p xmlns:a="http://schemas.openxmlformats.org/drawingml/2006/main">
            <a:pPr algn="r">
              <a:buNone/>
            </a:pPr>
            <a:r>
              <a:t>.env.example</a:t>
            </a:r>
            <a:endParaRPr/>
          </a:p>
          <a:p xmlns:a="http://schemas.openxmlformats.org/drawingml/2006/main">
            <a:pPr algn="r">
              <a:buNone/>
            </a:pPr>
            <a:r>
              <a:t>scripts/check-client-secret-absence.ts</a:t>
            </a:r>
            <a:endParaRPr/>
          </a:p>
          <a:p xmlns:a="http://schemas.openxmlformats.org/drawingml/2006/main">
            <a:pPr algn="r">
              <a:buNone/>
            </a:pPr>
            <a:r>
              <a:t>scripts/check-sports-secret-boundaries.mjs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 rtl="1">
              <a:buNone/>
              <a:defRPr lang="he-IL"/>
            </a:pPr>
            <a:r>
              <a:rPr lang="he-IL"/>
              <a:t>נקודה: העתיד מופרד בבירור ממה שנמסר ונבדק כעת.</a:t>
            </a:r>
            <a:endParaRPr lang="he-IL"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he-IL"/>
              <a:t xml:space="preserve">ראיה: כל הרחבה מוצמדת לטריגר מתועד; קישורי </a:t>
            </a:r>
            <a:r>
              <a:rPr lang="en-US"/>
              <a:t xml:space="preserve">Production </a:t>
            </a:r>
            <a:r>
              <a:rPr lang="he-IL"/>
              <a:t>ו־</a:t>
            </a:r>
            <a:r>
              <a:rPr lang="en-US"/>
              <a:t xml:space="preserve">GitHub </a:t>
            </a:r>
            <a:r>
              <a:rPr lang="he-IL"/>
              <a:t>מסיימים את ההצגה.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[Sources]</a:t>
            </a:r>
            <a:endParaRPr/>
          </a:p>
          <a:p xmlns:a="http://schemas.openxmlformats.org/drawingml/2006/main">
            <a:pPr algn="r">
              <a:buNone/>
            </a:pPr>
            <a:r>
              <a:t>docs/product.md §§5.2, 8.2, 15</a:t>
            </a:r>
            <a:endParaRPr/>
          </a:p>
          <a:p xmlns:a="http://schemas.openxmlformats.org/drawingml/2006/main">
            <a:pPr algn="r" rtl="1">
              <a:buNone/>
              <a:defRPr lang="he-IL"/>
            </a:pPr>
            <a:r>
              <a:rPr lang="he-IL"/>
              <a:t>‫</a:t>
            </a:r>
            <a:r>
              <a:rPr lang="en-US"/>
              <a:t xml:space="preserve">docs/scale.md — </a:t>
            </a:r>
            <a:r>
              <a:rPr lang="he-IL"/>
              <a:t>גבולות ורמזי הרחבה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>
              <a:buNone/>
            </a:pPr>
            <a:r>
              <a:t>docs/architecture.md §§2, 19, 21</a:t>
            </a:r>
            <a:endParaRPr/>
          </a:p>
          <a:p xmlns:a="http://schemas.openxmlformats.org/drawingml/2006/main">
            <a:pPr algn="r">
              <a:buNone/>
            </a:pPr>
            <a:r>
              <a:t>README.md — Slice 9</a:t>
            </a:r>
            <a:endParaRPr/>
          </a:p>
          <a:p xmlns:a="http://schemas.openxmlformats.org/drawingml/2006/main">
            <a:pPr algn="r">
              <a:buNone/>
            </a:pPr>
            <a:r>
              <a:t>presentation/demo-script.md</a:t>
            </a:r>
            <a:endParaRPr/>
          </a:p>
          <a:p xmlns:a="http://schemas.openxmlformats.org/drawingml/2006/main">
            <a:pPr algn="r"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.xml" Id="rI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2.xml" Id="rI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3.xml" Id="rI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image" Target="/ppt/media/image3.png" Id="rId3" /><Relationship Type="http://schemas.openxmlformats.org/officeDocument/2006/relationships/image" Target="/ppt/media/image4.png" Id="rId4" /><Relationship Type="http://schemas.openxmlformats.org/officeDocument/2006/relationships/notesSlide" Target="/ppt/notesSlides/notesSlide4.xml" Id="rI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5.xml" Id="rI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6.xml" Id="rI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7.xml" Id="rI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9.xml" Id="rI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1.xml" Id="rI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2.xml" Id="rI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hyperlink" Target="https://predictor-swart.vercel.app" TargetMode="External" Id="rId2" /><Relationship Type="http://schemas.openxmlformats.org/officeDocument/2006/relationships/hyperlink" Target="https://github.com/talzantkeren/predictor" TargetMode="External" Id="rId3" /><Relationship Type="http://schemas.openxmlformats.org/officeDocument/2006/relationships/notesSlide" Target="/ppt/notesSlides/notesSlide13.xml" Id="rI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97353-67AC-49B1-8A08-9CDBB039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28F82-B026-478D-8B2C-848674C5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RUNI · Internet Technologies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945CD-BE36-4B11-8998-36FA028C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90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Predictor1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B6156-7595-4256-82DD-340ECBCF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05100"/>
            <a:ext cx="666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4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4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ליגה פרטית. חיזוי הוגן. דירוג סופי שנשאר סופי.</a:t>
            </a:r>
            <a:endParaRPr lang="he-IL"/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6F025-246C-46E5-89F3-8A40579B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839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2039B-ACA7-45AD-83A3-FFB9F811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9580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מערכת אמון למחזור חיים מלא — מהזמנה ועד יישוב תוצאה מאוחרת</a:t>
            </a:r>
            <a:endParaRPr lang="he-IL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75303-53E9-45E4-888F-7B9CB434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353050"/>
            <a:ext cx="1809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1" lang="he-IL">
                <a:solidFill>
                  <a:srgbClr val="D48A16"/>
                </a:solidFill>
                <a:latin typeface="Arial"/>
                <a:ea typeface="Arial"/>
                <a:cs typeface="Arial"/>
              </a:defRPr>
            </a:pPr>
            <a:r>
              <a:rPr sz="1500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>הדגמה בלבד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9E8ED-B8A9-4062-8319-9FF48484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פרויקט גמר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026EC-58F9-4DFB-8EDB-45DEE60B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D8D04-F2F2-4247-8C75-17773648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A8F9A-2DAC-46C2-8947-34AB024E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4492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F9053A-AD1F-4F2F-854B-0DEE17D8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A4ED82-17BD-47D0-8D69-D5DDCF07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הבעיה והקהל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4722D-68BA-425D-8FB4-7CFDE47A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כשהליגה מתנהלת בצ׳אט, אין מקור אמת אחד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81F10-CA7F-4113-8DE7-252E2DD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566C6-42E5-4259-8ABB-6CF7CFF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31445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8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מנהלי ליגות פרטיות מרכזים בקשות, אסמכתאות, ניחושים ותוצאות בין הודעות וגיליונות.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C1784-8E02-4351-8FC2-E2365C1D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B47F9-9977-45A3-8777-66D1BF26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431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מי בפנים?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1A962-E190-4934-8277-01B809D8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527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חברות מאושרת, לא רשימת שמות מאולתרת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48FC4-5658-474C-8796-07BC6F9A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194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C893E-AAFA-4888-8748-88E0A08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174FE-9E30-477D-8CE5-3BB38F9F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099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מתי ננעל?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D97D8-B8F9-4459-85BD-B939A625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95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זמן מסד אחד, לא שעון מקומי ולא זיכרון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B9956-C5CC-48CA-867B-71F65F52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862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A3136-EB66-445D-861D-828DD0C0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85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815B2-9BE4-4CD7-86B6-733C5CAA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76750"/>
            <a:ext cx="404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למה הניקוד השתנה?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8DDA3-8CA6-424D-8BC0-CF6A3C42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86325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כלל, תוצאה וגרסה שאפשר להסביר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79DF3-7A37-4899-8789-6815CD59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619750"/>
            <a:ext cx="638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02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02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הבעיה המרכזית היא אמון — לא רק חישוב.</a:t>
            </a:r>
            <a:endParaRPr lang="he-IL"/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D099D-B9AC-493F-8612-52B6C865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20B003-CE5E-4E84-87A6-8AC5AA87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15DB14-9CE4-4DCA-8CA2-9293CC41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120310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626A33-9F3A-4552-81F0-08208C06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EC428-9477-4974-856B-61F41DDA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תפקידים וזרימות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8FFF3-EB37-41EA-87F7-9569E550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תפקידים נפרדים; ההרשאה תחומה לליגה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C9A31-2B56-4137-8907-A5EA647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2762A-2496-4CAC-8D64-316D453B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52575"/>
            <a:ext cx="519112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10" t="0" r="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600200"/>
            <a:ext cx="5095875" cy="2867025"/>
          </a:xfrm>
          <a:prstGeom xmlns:a="http://schemas.openxmlformats.org/drawingml/2006/main" prst="roundRect">
            <a:avLst>
              <a:gd name="adj" fmla="val 265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A3E7C-6266-4ABA-895A-C7244A9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48200"/>
            <a:ext cx="4619625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ראיה מן המוצר: שמות תצוגה בלבד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4FBBD-AAB7-4E32-8387-BEB78DB3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1657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2EF0A-E1DB-40B6-86EF-020E0648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אורחים נכנסים מהזמנה; מבקשי הצטרפות מעלים תמונת הדגמה פרטית.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F16E0-AAE2-433F-8BA1-7A9216B6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2533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F940F-F09C-4204-8F06-0CFFF826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03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מנהל הליגה מאשר חברות ומנהל את הליגה; חבר פעיל מנחש וצופה בדירוג.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89E2D-649B-4D0E-8642-4652412E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3409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CFA12-A95C-4067-86B4-62CA16BE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766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מנהל מערכת מטפל בקטלוג ובחריגי תוצאה — בלי להפוך אוטומטית לחבר בליגה.</a:t>
            </a:r>
            <a:endParaRPr lang="he-IL"/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2A238-4E4F-4AB6-8122-462DC2C4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4286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9BAA36-F822-41BF-84C7-CAC30870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067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ניהול ליגה אחת אינו מעניק הרשאה לליגה אחרת.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B0FB4-1E4C-45D7-8F64-29F70C11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44830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תפקיד הוא תחום אחריות, לא קיצור דרך להרשאה רחבה.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3B063-ABCD-4109-8055-485ADFF3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FF01C-B656-4E4F-8040-ACA1FF0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0D6ED3-73DC-469A-8706-F19AD92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62018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21DADF-C01A-4BF9-801D-2AB16E67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EE2E7-945E-45A7-8C08-913C3D78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מפת הדגמה חיה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8D600-B319-4A02-803D-952FDC5E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המחזור המלא נראה בדמו — בלי קיצור דרך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14E1-211B-4396-87BA-C8ECA93D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1FF88-12FB-4B8E-8530-94774711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714500"/>
            <a:ext cx="4000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E16C2-6C4F-4C21-848A-ADB6610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14500"/>
            <a:ext cx="4000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3A203-777B-4600-874B-495B3A92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פתוחה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open</a:t>
            </a:r>
            <a:r>
              <a:rPr lang="he-IL"/>
              <a:t>‬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8E203-7637-4AC0-8FD4-BE70DC7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מהזמנה לבקשה, לאסמכתה ולאישור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5C500-5930-476A-84C8-8E655BB2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8D0B3-E044-4097-8045-C2618702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פעילה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active</a:t>
            </a:r>
            <a:r>
              <a:rPr lang="he-IL"/>
              <a:t>‬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9B7F3-2A93-4739-8D17-5BD13083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מניחוש לנעילה, לניקוד ולדירוג נוכחי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2D9A9-46ED-423B-85C7-D29C523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3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7BFD2-D654-452B-8637-D714BC79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239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הושלמה · </a:t>
            </a:r>
            <a:r>
              <a:rPr sz="187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completed</a:t>
            </a:r>
            <a:r>
              <a:rPr lang="he-IL"/>
              <a:t>‬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65B8CA-519F-4C2D-893B-9CA7325F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מהקפאה לדירוג סופי וליישוב מאוחר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0B5461-E702-4444-8F50-DDEC47FC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66975"/>
            <a:ext cx="323850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4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514600"/>
            <a:ext cx="3143250" cy="1771650"/>
          </a:xfrm>
          <a:prstGeom xmlns:a="http://schemas.openxmlformats.org/drawingml/2006/main" prst="roundRect">
            <a:avLst>
              <a:gd name="adj" fmla="val 4301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CDA843-15BA-47F4-8E51-9D09ECC6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10382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E06A5-27A6-4EDA-81FA-561A4CB7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בדמו כל מעבר מתבצע דרך ה־</a:t>
            </a:r>
            <a:r>
              <a:rPr sz="180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UI. </a:t>
            </a:r>
            <a:r>
              <a:rPr sz="18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אין עדכון ישיר במסד כדי לזייף שלב שנראה למשתמש.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444308-541F-499A-8C8B-D9E8BF81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05475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אם שלב חי אינו נצפה במהירות — עוברים לצילום המקביל, בלי לטעון שהשלב עבר.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7206A-5900-4B0B-8D0F-A568F815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34FDA-3E26-4BC5-80E9-B3FBEFA6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212AED-71F2-44DD-8137-CAC3A390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88989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8882EE-69A8-4A50-8839-D988AD09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FC8D9-C1A6-47A8-8095-8E5B9B59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ארכיטקטורה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02A82-DBE1-48BA-84F3-5215CDC0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יישום אחד; כל כלל נאכף בשכבה הנכונה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0B718-4575-4D06-80CB-98E458F1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E99C7-7CC5-4751-80CA-0244D63B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7A8D2-55A5-4EAE-828C-D0EF6812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A50E2-C0B0-4632-89EE-813885B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24125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8BB8A-EE99-4B0A-8C1C-5F617CB8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EBD81-AE64-4CCA-8E30-D522198E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E2AB2-DBBE-4E8D-894E-6D5DF47A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RTL ·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טפסים · משוב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בלי סמכות עסקית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BB5C9-62D8-4D4D-8F65-EB655B83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3E8B3-117B-4CED-885C-0AC7391B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Next.js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03C9A3-D3DA-4449-8303-5170503F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Server Components</a:t>
            </a:r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Server Actions</a:t>
            </a:r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Route Handlers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DF6F7-C88D-4C3B-81DB-CFEB2F97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85498-CADD-485E-8E27-0173C134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0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שירותי תכונה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9BED6-BA14-4C47-8275-BE77E2F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לוגיקה משותפת</a:t>
            </a:r>
            <a:endParaRPr lang="he-IL"/>
          </a:p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בלי 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Request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או 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>React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B1C7B-F18C-46E0-8610-B17707FE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43075"/>
            <a:ext cx="2190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03664-C3F4-4134-8738-62B327E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924050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85499-2172-4549-8AD8-3C6F86DC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76500"/>
            <a:ext cx="1809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677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RLS ·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אילוצים · זמן מסד</a:t>
            </a:r>
            <a:r>
              <a:rPr lang="he-IL"/>
              <a:t>‬</a:t>
            </a:r>
            <a:endParaRPr lang="he-IL"/>
          </a:p>
          <a:p xmlns:a="http://schemas.openxmlformats.org/drawingml/2006/main">
            <a:pPr algn="ctr">
              <a:defRPr sz="1500" b="0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33A"/>
                </a:solidFill>
                <a:latin typeface="Arial"/>
                <a:ea typeface="Arial"/>
                <a:cs typeface="Arial"/>
              </a:rPr>
              <a:t>transactions · scoring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696929-620A-4462-816D-0EA5C4C5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קריאות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6F4803-F409-4012-8B08-804953FF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Server Components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9D31E3-194C-4C67-8085-E254DB1B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48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פעולות שינוי בממשק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19EF7-C89E-43FD-833B-59E909FB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Server 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5115D-D1DB-4BAE-8E3D-4D445EBA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481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upload · Cron · HTTP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ABA795-1AF9-4A3A-8AD3-64D783DF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3338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Route Handlers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E9BDA3-075A-4775-8F21-094FC149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81575"/>
            <a:ext cx="866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יישום יחיד ב־</a:t>
            </a:r>
            <a:r>
              <a:rPr sz="165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 xml:space="preserve">Next.js 16; </a:t>
            </a:r>
            <a:r>
              <a:rPr sz="165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שירותי המעטפת ניתנים ב־</a:t>
            </a:r>
            <a:r>
              <a:rPr sz="165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>Supabase.</a:t>
            </a:r>
            <a:r>
              <a:rPr lang="he-IL"/>
              <a:t>‬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FA51D-2E3E-4854-8EB1-CA4CE4C3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006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00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00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כל כלל עסקי שחייב לשרוד מרוץ מוכרע ב־</a:t>
            </a:r>
            <a:r>
              <a:rPr sz="1800" b="1" lang="en-US">
                <a:solidFill>
                  <a:srgbClr val="1F75CC"/>
                </a:solidFill>
                <a:latin typeface="Arial"/>
                <a:ea typeface="Arial"/>
                <a:cs typeface="Arial"/>
              </a:rPr>
              <a:t>PostgreSQL.</a:t>
            </a:r>
            <a:r>
              <a:rPr lang="he-IL"/>
              <a:t>‬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C16C9E-592A-4110-85A1-B3023FB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C6FCF1-0649-47F4-8C9D-796D1156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BA6081-463B-4997-8A3D-A56B6604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371019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B15EFD-9660-43E4-8261-E5087FA4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C0263-EF9B-47CB-89E8-1102FE9B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מודל נתונים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2936-A83C-466C-885E-EB9DE1D8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הפרדת הנתונים שומרת החלטות והיסטוריה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0F85B-0C1B-444B-8587-334F71B5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14372-004C-440A-8DEC-D6CF6570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17430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69D4C-68B2-40CE-8F55-682AF7D3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400" y="17430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FA83B-DA90-470A-83ED-5CFF866D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profiles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A656F-5E90-4C1C-84DB-05E82C69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join_requests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32A40-6795-4B16-8B76-C5396188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504950"/>
            <a:ext cx="32448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payment_proofs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14FD0-7F36-431C-86E9-4E2E4FB4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זהות → תהליך הצטרפות → היסטוריית אסמכתאות </a:t>
            </a:r>
            <a:r>
              <a:rPr sz="127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>1:N</a:t>
            </a:r>
            <a:r>
              <a:rPr lang="he-IL"/>
              <a:t>‬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3A84D-988F-4C43-8285-33F1AE8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908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67BE2E-16DE-45D3-8FC8-FFE2F35E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profiles + leagues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9D8C3-30A7-4830-8F40-C342BB13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league_members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87CC1-7993-4C14-863B-B8AD762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חברות היא ישות נפרדת מן הבקשה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C1439D-F621-4DD9-80B2-A12D2DE3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3857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0A06F2-2C33-4E1F-8CB9-6B68F89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leagues + matches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8EECF-F9E0-45B5-801F-32AF928B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00450"/>
            <a:ext cx="5029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predictions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68B26-EC97-485C-846A-2A686D4F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ניחוש שומר ניקוד וגרסת חישוב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F486A-9736-4D6C-85EE-75ECC628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8F675D-B82C-4935-83E2-6ED2CD45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AFA90-8455-4639-8C67-B8F0D9B3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886325"/>
            <a:ext cx="2476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F9AC6B-96EF-4998-8F21-0E7496EB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matches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89648F-9507-44B9-8055-D9E87F85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match_result_reviews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3C3FB4-DCBB-4A90-8279-F76B3E2B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league_match_snapshots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21F902-9314-40D5-82A5-1DC5F8D2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648200"/>
            <a:ext cx="23526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league_match_reconciliations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B19F58-E4C4-43F8-86B8-88C79243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תוצאה לא־בטוחה → הקפאה → תיקון מאוחר מפורש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A1895A-01AE-4E92-87FF-ED42467E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753100"/>
            <a:ext cx="866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בקשה, אסמכתה, חברות, ניחוש ותוצאה סופית הן ישויות שונות בכוונה.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FE3C82-6608-4B22-8937-8972E96D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7CFBC4-AA14-4949-8893-45DFC880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FB1450-F137-4DC4-8EC7-26919F84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58195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F55503-D6E4-4704-8598-5F27B87D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A3230-F70E-4017-8D68-873DAF71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אבטחה ופרטיות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EF454-7A72-4500-8157-B885D24F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15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אבטחה בשכבות — כי שכבה אחת אינה מספיקה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A09CE-8573-4A05-8D8A-99E4894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16D4E-6719-4D79-872C-02F8853D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3811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FF9C7-B648-4CEC-8E96-F8816EB3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זהות</a:t>
            </a:r>
            <a:endParaRPr lang="he-IL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ED004-C812-4A74-8511-820D38D7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4307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מאמתים מחדש את זהות המשתמש בכל כניסה לפעולה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0E369-E35B-437E-87C2-96808197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193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39CE8-7DF9-4229-8DBA-7153FE30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35267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1295D-56BE-48E3-802E-7875CC4A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הרשאת משאב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1B40AD-7800-40E1-85AF-BD9BE7F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בדיקה מול הליגה או האסמכתה המדויקת — בנפרד מגבול הרשימה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0E88A-30D1-4F35-8E98-635A07C1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9087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D4306-C0D2-4AA3-8296-6182A6DD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32422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4BDC6-AB49-4E92-87FA-D9E5A056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משמעת הרשאות במסד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A715-DFF4-40A0-84DB-FE88CBF0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8617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RLS · least-privilege grants · SECURITY DEFINER · empty search_path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7EB13-0FDB-4A34-8FC6-967740D0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62425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9D005-9141-4C8F-8997-46398891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95775"/>
            <a:ext cx="66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21956D-5795-4C0D-89B2-4581C7BD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957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קובץ פרטי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E563C-B97B-4BBF-8C9A-7286ED75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938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signature/decode → WebP → private bucket → short-lived signed URL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702431-2646-456D-8F98-F5FF3F1A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10287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7F8F86-2DFB-4CE0-875E-F188AF1B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34025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מזהה חוקי, דפדוף תחום או ממשק מוסתר אינם הרשאה.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97868-506E-4BF0-85AF-9D311210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59D086-A532-4B4D-81D2-A5AA9785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577060-DA7E-4027-813A-23512ACC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03435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5D9CFA-9E99-4DAC-82A3-0C59D1CE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C9211-8140-4A0F-8861-4D69F431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הוגנות ונעילה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8BBA3-5978-41D5-8ED5-ACB48BBC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את מועד הנעילה קובע המסד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C66FB-883A-490B-84FD-618C9361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07240-B437-4EFA-8691-BC4DF55A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CD4A7-5243-4939-8336-3EA8C56E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5CB51-6B8E-4FA8-895E-86FA9039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95500"/>
            <a:ext cx="4381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B89A4-5169-4116-8D4A-4E1901CC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14C16-1E77-483F-8BDF-5655089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1 · leagues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FFFD7-E52E-477B-8816-758D2E13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נועלים את מצב הליגה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16EED-A72D-481E-83A5-73A2A80E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65AA1-5A31-444E-82D8-CBFB3CDD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60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2 · league_members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3AE9F-27BF-4538-8508-7B37A064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מוודאים חברות פעילה</a:t>
            </a:r>
            <a:endParaRPr lang="he-IL"/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D6A66-7AFF-4AE3-8FF4-F6C75C0E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F23E2-386F-4331-8D21-CFAB9442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3 · matches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09BB2-F42E-44A8-849C-8A5DA99E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נועלים את המשחק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350F0-0E00-47FE-8693-7340AECE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562100"/>
            <a:ext cx="20002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79D08-E34D-474A-8B54-97CDF364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7335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3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4 · clock_timestamp()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8935B-DBD8-41F7-87EE-247FB24A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238375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רק עכשיו קוראים זמן</a:t>
            </a:r>
            <a:endParaRPr lang="he-IL"/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FC8B3-EE72-4F19-8532-A4B8B94D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9144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0A339-6A8A-4638-838E-8BD20585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60997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אם </a:t>
            </a:r>
            <a:r>
              <a:rPr sz="2025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kickoff_at ≤ </a:t>
            </a:r>
            <a:r>
              <a:rPr sz="20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זמן המסד — השמירה נדחית, גם אם הבקשה התחילה קודם.</a:t>
            </a:r>
            <a:r>
              <a:rPr lang="he-IL"/>
              <a:t>‬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BFBB6C-85DD-4B42-8C44-FE056243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686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2E4AD-1629-4091-83D9-32FD88D6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כל הזמנים נשמרים ב־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UTC;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ה־</a:t>
            </a:r>
            <a:r>
              <a:rPr sz="150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countdown </a:t>
            </a: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הוא עזר תצוגה בלבד.</a:t>
            </a:r>
            <a:r>
              <a:rPr lang="he-IL"/>
              <a:t>‬</a:t>
            </a:r>
            <a:endParaRPr lang="he-IL"/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73FDA9-BFEE-42E8-80BE-EA24DE9B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124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C87D7-3256-4944-8325-E2C0F9D1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9110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אחרי שנצפתה התחלה, נעילת המשחק נשארת בלתי הפיכה גם אם ספק שולח מועד עתידי.</a:t>
            </a:r>
            <a:endParaRPr lang="he-IL"/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95F584-9D57-4555-8788-7BAC0E6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562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651B55-480F-480F-849C-1F9F7147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7686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בדיקת מרוץ אמיתית חוצה את גבול הפתיחה ומוכרעת לפי זמן המסד.</a:t>
            </a:r>
            <a:endParaRPr lang="he-IL"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A62CA7-0FB8-44DF-81CC-C4FAD920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25BAD3-2C4C-4B1A-843B-6C8FD7D0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229CBB-3CFE-4575-82BA-3527DD82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893243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CE5F88-B167-4F25-8DBA-99DCA12E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CA3EE-F064-4CF3-8A0E-521E55E2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Completion · reconciliation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3A6A1-E277-487B-8F8F-E2B2EE8C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סיום ליגה הוא הקפאה אטומית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F4BCC-8AB7-49E5-81BC-A18C6D6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5D015-8C71-4D2E-83A8-3825B552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905000"/>
            <a:ext cx="4953000" cy="2828925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rcRect xmlns:a="http://schemas.openxmlformats.org/drawingml/2006/main" l="22" t="0" r="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952625"/>
            <a:ext cx="4857750" cy="2733675"/>
          </a:xfrm>
          <a:prstGeom xmlns:a="http://schemas.openxmlformats.org/drawingml/2006/main" prst="roundRect">
            <a:avLst>
              <a:gd name="adj" fmla="val 278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10B78-B9E3-4583-8424-3D60688F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86325"/>
            <a:ext cx="3857625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אחרי יישוב מפורש: </a:t>
            </a:r>
            <a:r>
              <a:rPr sz="1350" b="1" lang="en-US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0 </a:t>
            </a: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נקודות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A5757-DE39-4043-8343-D3B3C99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382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שער סיום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9CBDC-3AD8-4944-809D-E5D811A0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79070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כל המשחקים סופיים ופתורים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E1BBF-52B7-4CB2-8F1D-E62DE786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76475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BE7E6-78CB-4949-80FE-7B7CFB4A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transaction · snapshot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43A0E0-4003-4115-8F57-848FF681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5272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מצב הליגה ושתי בקשות ההמתנה נסגרים ונשמרים יחד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932281-6207-499A-8369-AEEA9FF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238500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4FE5E9-2027-4E2C-8190-A76DB431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623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LEAGUE_COMPLETED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2727F-6EA7-49CF-8443-3C5ECB5F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714750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האסמכתאות, ההיסטוריה ויומן הביקורת נשמרים</a:t>
            </a:r>
            <a:endParaRPr lang="he-IL"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87DB8-6600-44AD-8879-3288FD4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200525"/>
            <a:ext cx="547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092DE-8F1A-46BB-88F4-60F0A224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243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reconciliation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EBC79-DC1B-4DB6-8E15-0064AABC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7677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מנוהל בגרסאות; החלטה ישנה, הפעלה חוזרת או ליגה זרה נדחות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82C37-0895-4AF2-87BA-D8767BB9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43550"/>
            <a:ext cx="695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rPr>
              <a:t>הדירוג אינו משתנה בשקט — אבל תיקון מוצדק נשאר אפשרי ומתועד.</a:t>
            </a:r>
            <a:endParaRPr lang="he-IL"/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B9E09-E9AB-4529-8FAF-FFCB965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A6CF9-AE02-4C37-8F3C-7EE9ED8A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15EDBF-1CE6-4D80-8551-66A6E328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44157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A0887E-814A-40D3-8242-D60900F6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33BB1-A2BE-44C6-8A19-BD0A03BD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ראיות שנמדדו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630F6-C42F-417B-81DC-599C3DAD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כל שכבת בדיקה מוכיחה אמת אחרת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D2AE0-C56C-4371-828B-6977D28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BF8CDB-6C2D-4A7B-8660-F534C74F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C5443-F2DB-4776-8CA2-0EEEC53A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50 / 639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1D435-367C-411B-8799-C5EF6D9F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Vitest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A5FD1-ABB2-4BAA-81CD-4EE9CEDA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קבצים / בדיקות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חוקים, 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schemas, 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מתאמים וחישובים</a:t>
            </a:r>
            <a:r>
              <a:rPr lang="he-IL"/>
              <a:t>‬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8B7652-3B73-415B-8AA5-8E15CAA7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98CE1-2E14-4C6B-86DF-3910A34E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A5B"/>
                </a:solidFill>
                <a:latin typeface="Arial"/>
                <a:ea typeface="Arial"/>
                <a:cs typeface="Arial"/>
              </a:rPr>
              <a:t>31 / 1,496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16696-A808-49A7-8550-5893C0FE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pgTAP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49972-007D-4938-8755-ECEC7458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קבצים / בדיקות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constraints, RLS, grants, 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אטומיות ומרוצים</a:t>
            </a:r>
            <a:r>
              <a:rPr lang="he-IL"/>
              <a:t>‬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1E10E-4855-4D56-8752-424C9134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240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77096-8813-42F2-89E4-8628DDAA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38 / 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1B10B6-129C-477E-83E6-11138723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289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Playwright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99869-154F-4C6E-89DD-123B2DB0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62300"/>
            <a:ext cx="2609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בדיקות שעברו</a:t>
            </a:r>
            <a:endParaRPr lang="he-IL"/>
          </a:p>
          <a:p xmlns:a="http://schemas.openxmlformats.org/drawingml/2006/main">
            <a:pPr algn="r" rtl="1">
              <a:def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42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זרימות משתמש, הרשאות, נגישות ו־</a:t>
            </a:r>
            <a:r>
              <a:rPr sz="142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>RTL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96151-D800-4E8E-8D57-2E149CE2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0965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DD2D3-956D-42BA-8F2E-0F76F179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48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בסביבת הבדיקות אין פנייה לספק ספורט חי.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6D7D0-4CD9-4272-81F2-3147FD6E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4827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75CC"/>
                </a:solidFill>
                <a:latin typeface="Arial"/>
                <a:ea typeface="Arial"/>
                <a:cs typeface="Arial"/>
              </a:rPr>
              <a:t>CI · recorded fixtures · fake transport · no live Sports provider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125B1E-B2CF-4B2D-85A2-3120C8D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435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הספירות נצפו ב־</a:t>
            </a:r>
            <a:r>
              <a:rPr sz="1275" b="0" lang="en-US">
                <a:solidFill>
                  <a:srgbClr val="52647A"/>
                </a:solidFill>
                <a:latin typeface="Arial"/>
                <a:ea typeface="Arial"/>
                <a:cs typeface="Arial"/>
              </a:rPr>
              <a:t xml:space="preserve">npm run verify </a:t>
            </a:r>
            <a:r>
              <a:rPr sz="1275" b="0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על עץ העבודה הסופי.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A3C40-E374-4BC7-8CE4-CF82E892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5A9B54-891D-4CC6-8287-193D857D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C5AFD-BFD8-4766-8FB9-47A23603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686815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144B3A-5D34-4DD5-81A6-02E9BE4C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D15A3-1B73-41F7-8B45-2A8E8225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(ANALYZE, BUFFERS)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A9796-0E0D-461F-81BF-12AAC8E6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קנה מידה שנמדד, לא הובטח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8EDF4-7C4A-4D9D-807C-D435EBF8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C14C2-E7BC-47BE-817B-9973EF6F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105D9-152B-49E1-8F65-25DBA35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144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dashboard_leagues_101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61CD38-8FE3-4BD8-8602-32FF408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288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0BABF-8A5E-4F3F-8AC7-C29E152A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525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דשבורד תחום</a:t>
            </a:r>
            <a:endParaRPr lang="he-IL"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D3387-0ED7-4D18-82CF-1486C5A9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62100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868B3-99BD-4B7E-8D88-1BC9F622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62100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90CDB-2BA0-43D7-8CDD-D2E6C018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CF0127-62A3-4BED-89C9-E3F3D70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eligible_leagues_101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712F9-2DEC-4AE0-8EEB-D0909249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955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C7A60-D208-4F17-8EA3-DD7CA81D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ליגות זמינות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95020-6647-40F3-8C59-1AA29918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9F38D-A660-489F-8D0B-62A8EEFB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28875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12D05-8983-47A7-8C86-4296C649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DB269-F176-4166-844C-705AE123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revealed_predictions_202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9DC907-3F31-45A6-8691-14D1D53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548345-8D6C-4744-8A3C-46FF60A7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8612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ניחושים חשופים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5EB8B-F344-4648-8F7C-0018F438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95650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EA1C5-646D-4ACA-8577-AB097AF8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95650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51 </a:t>
            </a:r>
            <a:r>
              <a:rPr sz="13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923E6F-95D4-46A2-8902-10B6D42E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108394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61FC0-1285-40F6-8A90-A4F44901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active_members_201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37BF0-9D9B-4E24-8041-29A4E602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EXPLAIN ANALYZE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08633D-A02E-4F13-89EA-3A1972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529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0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חברים פעילים</a:t>
            </a:r>
            <a:endParaRPr lang="he-IL"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2481AB-C32A-4197-8591-34E60EC6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62425"/>
            <a:ext cx="18097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Function Scan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3D3342-3EF5-4653-8507-DC2AD787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62425"/>
            <a:ext cx="200025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5F7F4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  <p:txBody>
          <a:bodyPr xmlns:a="http://schemas.openxmlformats.org/drawingml/2006/main" lIns="95250" tIns="38100" rIns="952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defRPr>
            </a:pPr>
            <a:r>
              <a:rPr sz="1350" b="1" lang="en-US">
                <a:solidFill>
                  <a:srgbClr val="087A5B"/>
                </a:solidFill>
                <a:latin typeface="Arial"/>
                <a:ea typeface="Arial"/>
                <a:cs typeface="Arial"/>
              </a:rPr>
              <a:t xml:space="preserve">26 </a:t>
            </a:r>
            <a:r>
              <a:rPr sz="1350" b="1" lang="he-IL">
                <a:solidFill>
                  <a:srgbClr val="087A5B"/>
                </a:solidFill>
                <a:latin typeface="Arial"/>
                <a:ea typeface="Arial"/>
                <a:cs typeface="Arial"/>
              </a:rPr>
              <a:t>שורות</a:t>
            </a:r>
            <a:endParaRPr lang="he-IL"/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E0FA6E-6B36-4D8F-83C0-6F590EF1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153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49CEAD-9F9F-435E-86AE-52CADC99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1967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הרשימות תחומות בעזרת סמן ואינדקסים; שיטת ההמשך היא </a:t>
            </a:r>
            <a:r>
              <a:rPr sz="135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>Keyset pagination.</a:t>
            </a:r>
            <a:r>
              <a:rPr lang="he-IL"/>
              <a:t>‬</a:t>
            </a:r>
            <a:endParaRPr lang="he-IL"/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F1E531-CC28-4C31-8CFB-DDE690FC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14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27DD31-CA2F-46EC-849A-3D4A0963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8162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הניקוד מחושב בפעולה קבוצתית במסד; הסנכרון מפוצל ומוגבל במכסה.</a:t>
            </a:r>
            <a:endParaRPr lang="he-IL"/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3450CE-65F2-4B76-8231-289EEC57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876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504FA0-9D03-4D07-8B0D-9618D5A6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43575"/>
            <a:ext cx="8591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3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הזמנים והשורות למעלה נצפו באותה הרצה מקומית על המועמד הסופי.</a:t>
            </a:r>
            <a:endParaRPr lang="he-IL"/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2AF07-6208-461B-8F29-00596D09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1622ED-873C-4E67-8E3F-C77A90AC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9F9308-734E-478E-86B8-B05C27A1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946117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0B5E32-4C9F-413F-8213-F4C32620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9E2B6-2D65-4B56-8678-63A18850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בחירות וסיכונים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418BB-FBCF-442C-8361-C4EA71E0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גבולות אמיתיים עדיפים על הבטחות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EDD4F-C267-4377-87FF-B904708B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3D169-6C55-4DE8-8D47-3EA1B33B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בחירות מודעות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B847B-A504-4751-8B59-0C886E01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82F73-53B3-4E20-8B4D-DDC4A286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מונוליט מודולרי; שירות נוסף רק לאחר מדידת צוואר בקבוק.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7A4AD-9992-45C8-8E8A-C798AFB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CA6D3-1A13-45CA-8661-18D53E71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9557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הכללים האטומיים נשמרים ב־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PostgreSQL;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חוויית המשתמש נשארת ביישום.</a:t>
            </a:r>
            <a:r>
              <a:rPr lang="he-IL"/>
              <a:t>‬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61796-CF8E-4E73-8DE2-4C213FDD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571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92CA8-9126-4663-8B14-496F9E20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38525"/>
            <a:ext cx="4781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מחוץ ל־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Production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נשאר נתיב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Manual adapter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עובד ובטוח.</a:t>
            </a:r>
            <a:r>
              <a:rPr lang="he-IL"/>
              <a:t>‬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58138-3762-4BEF-88B0-7B2AEA3C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75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סיכונים שנותרו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A41CF2-15F1-41E2-842F-45B5C02E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B352F-A3A7-4DA4-897D-F5C75D8D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5262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מגבלות ספק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Sports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ואמינות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SMTP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הן תלויות תשתית חיצונית.</a:t>
            </a:r>
            <a:r>
              <a:rPr lang="he-IL"/>
              <a:t>‬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92C62-15A5-454C-8411-275CA36E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828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FC9927-8FFF-4D99-800A-E4C9CC76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9557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פעולות 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Hosted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ו־</a:t>
            </a:r>
            <a:r>
              <a:rPr sz="1575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Production </a:t>
            </a: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דורשות ראיה נפרדת של הבעלים.</a:t>
            </a:r>
            <a:r>
              <a:rPr lang="he-IL"/>
              <a:t>‬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44B76-53E9-4E4A-8F66-0F09E12A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71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8AE465-3D95-4E88-832F-F99EF1AA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38525"/>
            <a:ext cx="4876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57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הרחבה תפעולית תיבחן רק מול מדידות עומס אמיתיות.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84112-B3B0-4050-893A-53FE37CA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0572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29A218-A9AF-489C-8282-EF2C7DDD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מצב </a:t>
            </a:r>
            <a:r>
              <a:rPr sz="1875" b="1" lang="en-US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Demo 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בלבד · אין גבייה או כסף אמיתי · אין </a:t>
            </a:r>
            <a:r>
              <a:rPr sz="1875" b="1" lang="en-US">
                <a:solidFill>
                  <a:srgbClr val="D48A16"/>
                </a:solidFill>
                <a:latin typeface="Arial"/>
                <a:ea typeface="Arial"/>
                <a:cs typeface="Arial"/>
              </a:rPr>
              <a:t xml:space="preserve">generative AI </a:t>
            </a:r>
            <a:r>
              <a:rPr sz="1875" b="1" lang="he-IL">
                <a:solidFill>
                  <a:srgbClr val="D48A16"/>
                </a:solidFill>
                <a:latin typeface="Arial"/>
                <a:ea typeface="Arial"/>
                <a:cs typeface="Arial"/>
              </a:rPr>
              <a:t>בזמן ריצה</a:t>
            </a:r>
            <a:r>
              <a:rPr lang="he-IL"/>
              <a:t>‬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38F29-8D37-43F0-8CAC-76704997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425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425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מחוץ לסביבת הייצור אין פרטי גישה לספק ואין פנייה בזמן אמת לספק נתוני ספורט.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11E4DF-2AD8-43E1-81BB-4CD6E6E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75CC"/>
                </a:solidFill>
                <a:latin typeface="Arial"/>
                <a:ea typeface="Arial"/>
                <a:cs typeface="Arial"/>
              </a:rPr>
              <a:t>Local · Preview · CI: Manual adapter · recorded fixtures · fake transport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161224-D1E6-4B0A-8BCE-EEA392B2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14A342-7BA7-41C0-83DE-7AE4780B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43F0C-1D38-48A4-8116-93FB0FEA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3201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436CB5-34BE-4004-80CC-89EC6C8A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51868-D266-40CF-8EDA-71D17774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1" lang="he-IL">
                <a:solidFill>
                  <a:srgbClr val="52647A"/>
                </a:solidFill>
                <a:latin typeface="Arial"/>
                <a:ea typeface="Arial"/>
                <a:cs typeface="Arial"/>
              </a:rPr>
              <a:t>סיכום והמשך</a:t>
            </a:r>
            <a:endParaRPr lang="he-IL"/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0295A-E540-4BFF-8635-7201CF72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ה־</a:t>
            </a:r>
            <a:r>
              <a:rPr sz="31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MVP </a:t>
            </a:r>
            <a:r>
              <a:rPr sz="31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הושלם; העתיד נשאר מחוץ לגבול</a:t>
            </a:r>
            <a:r>
              <a:rPr lang="he-IL"/>
              <a:t>‬</a:t>
            </a:r>
            <a:endParaRPr lang="he-IL"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AD220-71D5-43B1-8036-8B016B2D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76D8F-B8DD-4035-8551-40CE2A9F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מימוש ה־</a:t>
            </a:r>
            <a:r>
              <a:rPr sz="22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>MVP</a:t>
            </a:r>
            <a:r>
              <a:rPr lang="he-IL"/>
              <a:t>‬</a:t>
            </a:r>
            <a:endParaRPr lang="he-IL"/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EAAEC-726C-4BBF-8F4B-FDA4A6C1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D15E4-9916-4F86-8585-17E73EC7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הצטרפות, ניחוש, דירוג והשלמה — מחזור מלא.</a:t>
            </a:r>
            <a:endParaRPr lang="he-IL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44373-2E35-452D-8C91-6550D96D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733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1D676-2EBD-43AF-82DE-2FEA6747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003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תיקון מאוחר נשאר פרטי, מפורש, מנוהל בגרסאות ומתועד.</a:t>
            </a:r>
            <a:endParaRPr lang="he-IL"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7D799-565A-406E-8EE0-5B6DDA23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372D1-6B08-4342-8199-9B6108C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48025"/>
            <a:ext cx="4781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אפשר להסביר מי הורשה, מתי ננעל ואיך נשמר הדירוג הסופי.</a:t>
            </a:r>
            <a:endParaRPr lang="he-IL"/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7790E-8B52-4D71-8C29-825AF482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המשך אפשרי</a:t>
            </a:r>
            <a:endParaRPr lang="he-IL"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1FFAF4-F152-4F90-8BD5-5CE61BE3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85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CF174-EC5E-45E2-843A-D519C584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52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מפרידים רכיב רק אחרי שנמדד צוואר בקבוק אמיתי.</a:t>
            </a:r>
            <a:endParaRPr lang="he-IL"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DC180-9D03-4A28-8525-6F78E07A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733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97DF1-FA91-43ED-8229-11D40FA5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003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כסף אמיתי — רק אחרי שער משפטי, פרטיות וגיל.</a:t>
            </a:r>
            <a:endParaRPr lang="he-IL"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83A89-8337-4407-8A60-410B6369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81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8A16"/>
          </a:solidFill>
          <a:ln xmlns:a="http://schemas.openxmlformats.org/drawingml/2006/main" w="9525">
            <a:solidFill>
              <a:srgbClr val="D48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B69C5E-EE90-4202-8ECB-6CB2782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480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מאשרים </a:t>
            </a:r>
            <a:r>
              <a:rPr sz="1650" b="0" lang="en-US">
                <a:solidFill>
                  <a:srgbClr val="17233A"/>
                </a:solidFill>
                <a:latin typeface="Arial"/>
                <a:ea typeface="Arial"/>
                <a:cs typeface="Arial"/>
              </a:rPr>
              <a:t xml:space="preserve">generative AI </a:t>
            </a:r>
            <a:r>
              <a:rPr sz="1650" b="0" lang="he-IL">
                <a:solidFill>
                  <a:srgbClr val="17233A"/>
                </a:solidFill>
                <a:latin typeface="Arial"/>
                <a:ea typeface="Arial"/>
                <a:cs typeface="Arial"/>
              </a:rPr>
              <a:t>רק לאחר שינוי היקף מאושר.</a:t>
            </a:r>
            <a:r>
              <a:rPr lang="he-IL"/>
              <a:t>‬</a:t>
            </a:r>
            <a:endParaRPr lang="he-IL"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30E87D-89DD-4921-8484-BED4195C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085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9525">
            <a:solidFill>
              <a:srgbClr val="1F75C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FF8787-CDB1-48E3-8F1A-E135D9DE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1487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Id2"/>
              </a:rPr>
              <a:t>פתיחת האתר הציבורי</a:t>
            </a:r>
            <a:endParaRPr lang="he-IL"/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1B771C-4AC0-4B3B-861A-49EB0CB6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1875" b="1" lang="he-IL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875" b="1" lang="he-IL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Id3"/>
              </a:rPr>
              <a:t>פתיחת מאגר הקוד</a:t>
            </a:r>
            <a:endParaRPr lang="he-IL"/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866D0C-9C1D-4874-8AD4-0AC9D6EE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48300"/>
            <a:ext cx="904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 rtl="1">
              <a:def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lang="he-IL"/>
              <a:t>‫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כך </a:t>
            </a:r>
            <a:r>
              <a:rPr sz="2250" b="1" lang="en-US">
                <a:solidFill>
                  <a:srgbClr val="10233F"/>
                </a:solidFill>
                <a:latin typeface="Arial"/>
                <a:ea typeface="Arial"/>
                <a:cs typeface="Arial"/>
              </a:rPr>
              <a:t xml:space="preserve">Predictor1 </a:t>
            </a:r>
            <a:r>
              <a:rPr sz="2250" b="1" lang="he-IL">
                <a:solidFill>
                  <a:srgbClr val="10233F"/>
                </a:solidFill>
                <a:latin typeface="Arial"/>
                <a:ea typeface="Arial"/>
                <a:cs typeface="Arial"/>
              </a:rPr>
              <a:t>הופך כללי ליגה פרטית להסכמות שאפשר לבדוק.</a:t>
            </a:r>
            <a:r>
              <a:rPr lang="he-IL"/>
              <a:t>‬</a:t>
            </a:r>
            <a:endParaRPr lang="he-IL"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0ED58-014E-4E25-8460-7C124DB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34125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C141B3-5FBC-4ED9-87D9-9C283331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· RUNI 2026 ·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90A11D-EC7C-4A1B-874A-20184071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27652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2026-08-27T00:00:00Z</dcterms:created>
  <dcterms:modified xsi:type="dcterms:W3CDTF">2026-08-27T00:00:00Z</dcterms:modified>
</coreProperties>
</file>